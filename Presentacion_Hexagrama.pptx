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A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164592" cy="6858000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736592" y="0"/>
            <a:ext cx="36576" cy="6858000"/>
          </a:xfrm>
          <a:prstGeom prst="rect">
            <a:avLst/>
          </a:prstGeom>
          <a:solidFill>
            <a:srgbClr val="B8A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5486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B8A371"/>
                </a:solidFill>
                <a:latin typeface="Calibri"/>
              </a:rPr>
              <a:t>LOGICA PARA CIENCIAS DE LA COMPUTACION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CE5D6"/>
                </a:solidFill>
                <a:latin typeface="Calibri"/>
              </a:rPr>
              <a:t>MACC  ·  Semestre 2026-01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0350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ECE5D6"/>
                </a:solidFill>
                <a:latin typeface="Calibri"/>
              </a:rPr>
              <a:t>11310035</a:t>
            </a:r>
          </a:p>
        </p:txBody>
      </p:sp>
      <p:pic>
        <p:nvPicPr>
          <p:cNvPr id="9" name="Picture 8" descr="_hexagrama_fig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356616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521208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>
                <a:solidFill>
                  <a:srgbClr val="ECE5D6"/>
                </a:solidFill>
                <a:latin typeface="Calibri"/>
              </a:rPr>
              <a:t>Hexagrama magico con M =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00584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A5D23"/>
                </a:solidFill>
                <a:latin typeface="Calibri"/>
              </a:rPr>
              <a:t>PROYECTO DE LOGICA PROPOSICIONAL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417320"/>
            <a:ext cx="66751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0A193A"/>
                </a:solidFill>
                <a:latin typeface="Calibri"/>
              </a:rPr>
              <a:t>Hexagramas Magicos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86000"/>
            <a:ext cx="6675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1">
                <a:solidFill>
                  <a:srgbClr val="4A5E8C"/>
                </a:solidFill>
                <a:latin typeface="Calibri"/>
              </a:rPr>
              <a:t>Representacion en logica proposicional y verificacion de
satisfacibilidad mediante algoritmos SAT-solver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12080" y="3291840"/>
            <a:ext cx="2743200" cy="0"/>
          </a:xfrm>
          <a:prstGeom prst="line">
            <a:avLst/>
          </a:prstGeom>
          <a:ln w="25400">
            <a:solidFill>
              <a:srgbClr val="4A5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212080" y="347472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4A5D23"/>
                </a:solidFill>
                <a:latin typeface="Calibri"/>
              </a:rPr>
              <a:t>AUTORES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794760"/>
            <a:ext cx="66751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B1F2B"/>
                </a:solidFill>
                <a:latin typeface="Calibri"/>
              </a:rPr>
              <a:t>Samuel Alejandro Galindo
John Sebastian Valbuena
Alejandro Jimenez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512064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4A5D23"/>
                </a:solidFill>
                <a:latin typeface="Calibri"/>
              </a:rPr>
              <a:t>DOCENTE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539496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B1F2B"/>
                </a:solidFill>
                <a:latin typeface="Calibri"/>
              </a:rPr>
              <a:t>Daniel Alfonso Bojaca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598932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Bogota  ·  Mayo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280160" cy="292608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4EFE6"/>
                </a:solidFill>
                <a:latin typeface="Calibri"/>
              </a:rPr>
              <a:t>  2 / 9   ·   PROBLEMA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0A193A"/>
                </a:solidFill>
                <a:latin typeface="Calibri"/>
              </a:rPr>
              <a:t>Que monda es un Hexagrama Magico?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4A5E8C"/>
                </a:solidFill>
                <a:latin typeface="Calibri"/>
              </a:rPr>
              <a:t>Una estrella de 6 puntas, 12 casillas, una sola suma magica.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874519"/>
            <a:ext cx="10972800" cy="0"/>
          </a:xfrm>
          <a:prstGeom prst="line">
            <a:avLst/>
          </a:prstGeom>
          <a:ln w="19050">
            <a:solidFill>
              <a:srgbClr val="B8A3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148840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4A5D23"/>
                </a:solidFill>
                <a:latin typeface="Calibri"/>
              </a:rPr>
              <a:t>El polinomio estrellado mas pequeno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67665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B1F2B"/>
                </a:solidFill>
                <a:latin typeface="Calibri"/>
              </a:rPr>
              <a:t>Una estrella magica m|p se construye uniendo, con segmentos rectos, cada p-avo punto entre m puntos distribuidos sobre una circunferencia. Para una estrella magica todas tienen densidad p = 2.</a:t>
            </a:r>
          </a:p>
          <a:p>
            <a:pPr algn="l"/>
            <a:endParaRPr sz="1300" b="0" i="0">
              <a:solidFill>
                <a:srgbClr val="1B1F2B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1B1F2B"/>
                </a:solidFill>
                <a:latin typeface="Calibri"/>
              </a:rPr>
              <a:t>El hexagrama es el caso m = 6, p = 2  (la estrella mas pequena posible).</a:t>
            </a:r>
          </a:p>
          <a:p>
            <a:pPr algn="l"/>
            <a:endParaRPr sz="1300" b="0" i="0">
              <a:solidFill>
                <a:srgbClr val="1B1F2B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1B1F2B"/>
                </a:solidFill>
                <a:latin typeface="Calibri"/>
              </a:rPr>
              <a:t>  ·  Tiene 12 casillas (los vertices y los cruces internos).</a:t>
            </a:r>
          </a:p>
          <a:p>
            <a:pPr algn="l"/>
            <a:r>
              <a:rPr sz="1300" b="0" i="0">
                <a:solidFill>
                  <a:srgbClr val="1B1F2B"/>
                </a:solidFill>
                <a:latin typeface="Calibri"/>
              </a:rPr>
              <a:t>  ·  Tiene 6 lineas rectas, cada una con 4 numeros.</a:t>
            </a:r>
          </a:p>
          <a:p>
            <a:pPr algn="l"/>
            <a:r>
              <a:rPr sz="1300" b="0" i="0">
                <a:solidFill>
                  <a:srgbClr val="1B1F2B"/>
                </a:solidFill>
                <a:latin typeface="Calibri"/>
              </a:rPr>
              <a:t>  ·  La suma magica viene dada por M = 4m + 2.</a:t>
            </a:r>
          </a:p>
          <a:p>
            <a:pPr algn="l"/>
            <a:r>
              <a:rPr sz="1300" b="0" i="0">
                <a:solidFill>
                  <a:srgbClr val="1B1F2B"/>
                </a:solidFill>
                <a:latin typeface="Calibri"/>
              </a:rPr>
              <a:t>          Para m = 6  →  M = 4·6 + 2 = 26.</a:t>
            </a:r>
          </a:p>
          <a:p>
            <a:pPr algn="l"/>
            <a:r>
              <a:rPr sz="1300" b="0" i="0">
                <a:solidFill>
                  <a:srgbClr val="1B1F2B"/>
                </a:solidFill>
                <a:latin typeface="Calibri"/>
              </a:rPr>
              <a:t>  ·  Se usan numeros 1..12, sin repetir, uno por casilla.</a:t>
            </a:r>
          </a:p>
          <a:p>
            <a:pPr algn="l"/>
            <a:r>
              <a:rPr sz="1300" b="0" i="0">
                <a:solidFill>
                  <a:srgbClr val="1B1F2B"/>
                </a:solidFill>
                <a:latin typeface="Calibri"/>
              </a:rPr>
              <a:t>  ·  Existen 80 hexagramas magicos esencialmente distintos.</a:t>
            </a:r>
          </a:p>
        </p:txBody>
      </p:sp>
      <p:pic>
        <p:nvPicPr>
          <p:cNvPr id="10" name="Picture 9" descr="_hexagrama_fig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194560"/>
            <a:ext cx="3931920" cy="3931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0" y="61722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  <a:latin typeface="Calibri"/>
              </a:rPr>
              <a:t>Casillas numeradas 1..12 (convencion del proyecto)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Calibri"/>
              </a:rPr>
              <a:t>Hexagramas Magicos  ·  MACC  ·  2026-01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280160" cy="292608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4EFE6"/>
                </a:solidFill>
                <a:latin typeface="Calibri"/>
              </a:rPr>
              <a:t>  3 / 9   ·   DESCRIPTOR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0A193A"/>
                </a:solidFill>
                <a:latin typeface="Calibri"/>
              </a:rPr>
              <a:t>Nuestro predicado y cuantos atomos tiene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4A5E8C"/>
                </a:solidFill>
                <a:latin typeface="Calibri"/>
              </a:rPr>
              <a:t>Un solo descriptor binario alcanza para modelar todo el problema.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874519"/>
            <a:ext cx="10972800" cy="0"/>
          </a:xfrm>
          <a:prstGeom prst="line">
            <a:avLst/>
          </a:prstGeom>
          <a:ln w="19050">
            <a:solidFill>
              <a:srgbClr val="B8A3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148840"/>
            <a:ext cx="6858000" cy="1920240"/>
          </a:xfrm>
          <a:prstGeom prst="roundRect">
            <a:avLst>
              <a:gd name="adj" fmla="val 6000"/>
            </a:avLst>
          </a:prstGeom>
          <a:solidFill>
            <a:srgbClr val="ECE5D6"/>
          </a:solidFill>
          <a:ln w="15875">
            <a:solidFill>
              <a:srgbClr val="14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4A5D23"/>
                </a:solidFill>
                <a:latin typeface="Calibri"/>
              </a:rPr>
              <a:t>DESCRIPTOR (predicado)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A193A"/>
                </a:solidFill>
                <a:latin typeface="Calibri"/>
              </a:rPr>
              <a:t>D</a:t>
            </a:r>
            <a:r>
              <a:rPr sz="2000" b="1" i="1">
                <a:solidFill>
                  <a:srgbClr val="0A193A"/>
                </a:solidFill>
                <a:latin typeface="Calibri"/>
              </a:rPr>
              <a:t>n,c</a:t>
            </a:r>
            <a:r>
              <a:rPr sz="1800" b="0" i="0">
                <a:solidFill>
                  <a:srgbClr val="1B1F2B"/>
                </a:solidFill>
                <a:latin typeface="Calibri"/>
              </a:rPr>
              <a:t>   :   El numero </a:t>
            </a:r>
            <a:r>
              <a:rPr sz="1800" b="1" i="1">
                <a:solidFill>
                  <a:srgbClr val="4A5D23"/>
                </a:solidFill>
                <a:latin typeface="Calibri"/>
              </a:rPr>
              <a:t>n</a:t>
            </a:r>
            <a:r>
              <a:rPr sz="1800" b="0" i="0">
                <a:solidFill>
                  <a:srgbClr val="1B1F2B"/>
                </a:solidFill>
                <a:latin typeface="Calibri"/>
              </a:rPr>
              <a:t> esta en la casilla </a:t>
            </a:r>
            <a:r>
              <a:rPr sz="1800" b="1" i="1">
                <a:solidFill>
                  <a:srgbClr val="4A5D23"/>
                </a:solidFill>
                <a:latin typeface="Calibri"/>
              </a:rPr>
              <a:t>c</a:t>
            </a:r>
            <a:r>
              <a:rPr sz="1800" b="0" i="0">
                <a:solidFill>
                  <a:srgbClr val="1B1F2B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B1F2B"/>
                </a:solidFill>
                <a:latin typeface="Cambria"/>
              </a:rPr>
              <a:t>n  ∈  {1, 2, ..., 20}      c  ∈  {1, 2, ..., 12}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148840"/>
            <a:ext cx="3931920" cy="1920240"/>
          </a:xfrm>
          <a:prstGeom prst="roundRect">
            <a:avLst>
              <a:gd name="adj" fmla="val 6000"/>
            </a:avLst>
          </a:prstGeom>
          <a:solidFill>
            <a:srgbClr val="0A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23317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B8A371"/>
                </a:solidFill>
                <a:latin typeface="Calibri"/>
              </a:rPr>
              <a:t>ATOMOS PROPOSICIONALES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74320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0" b="1" i="0">
                <a:solidFill>
                  <a:srgbClr val="F4EFE6"/>
                </a:solidFill>
                <a:latin typeface="Calibri"/>
              </a:rPr>
              <a:t>240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7033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ECE5D6"/>
                </a:solidFill>
                <a:latin typeface="Calibri"/>
              </a:rPr>
              <a:t>|n| · |c|  =  20 · 12  =  240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4A5D23"/>
                </a:solidFill>
                <a:latin typeface="Calibri"/>
              </a:rPr>
              <a:t>Por que llegar hasta n = 20 si solo se usan 1..12?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09160"/>
            <a:ext cx="111556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B1F2B"/>
                </a:solidFill>
                <a:latin typeface="Calibri"/>
              </a:rPr>
              <a:t>La maxima suma de 4 numeros distintos que sea 26 se alcanza con 20 + 3 + 2 + 1 = 26.</a:t>
            </a:r>
          </a:p>
          <a:p>
            <a:pPr algn="l"/>
            <a:r>
              <a:rPr sz="1200" b="0" i="0">
                <a:solidFill>
                  <a:srgbClr val="1B1F2B"/>
                </a:solidFill>
                <a:latin typeface="Calibri"/>
              </a:rPr>
              <a:t>Si el dominio se cortara antes (p. ej. n ∈ {1..12}), se perderian configuraciones validas de linea.</a:t>
            </a:r>
          </a:p>
          <a:p>
            <a:pPr algn="l"/>
            <a:r>
              <a:rPr sz="1200" b="0" i="0">
                <a:solidFill>
                  <a:srgbClr val="1B1F2B"/>
                </a:solidFill>
                <a:latin typeface="Calibri"/>
              </a:rPr>
              <a:t>Trabajar con n ∈ {1..20} garantiza obtener las 80 combinaciones esencialmente distintas del hexagrama.</a:t>
            </a:r>
          </a:p>
          <a:p>
            <a:pPr algn="l"/>
            <a:r>
              <a:rPr sz="1200" b="0" i="0">
                <a:solidFill>
                  <a:srgbClr val="1B1F2B"/>
                </a:solidFill>
                <a:latin typeface="Calibri"/>
              </a:rPr>
              <a:t>Como el descriptor es binario, cada par (n, c) corresponde a una unica letra proposicional, codificada por la clase Descriptor (Logica.py) usando chr() a partir de 256.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Calibri"/>
              </a:rPr>
              <a:t>Hexagramas Magicos  ·  MACC  ·  2026-01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280160" cy="292608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4EFE6"/>
                </a:solidFill>
                <a:latin typeface="Calibri"/>
              </a:rPr>
              <a:t>  4 / 9   ·   REGLAS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0A193A"/>
                </a:solidFill>
                <a:latin typeface="Calibri"/>
              </a:rPr>
              <a:t>Reglas en lenguaje natural y en logica proposicional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4A5E8C"/>
                </a:solidFill>
                <a:latin typeface="Calibri"/>
              </a:rPr>
              <a:t>4 reglas, 4 Ytorias gigantes y un monton de Otorias por dentro.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874519"/>
            <a:ext cx="10972800" cy="0"/>
          </a:xfrm>
          <a:prstGeom prst="line">
            <a:avLst/>
          </a:prstGeom>
          <a:ln w="19050">
            <a:solidFill>
              <a:srgbClr val="B8A3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1031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A5D23"/>
                </a:solidFill>
                <a:latin typeface="Calibri"/>
              </a:rPr>
              <a:t>Definicion previa  ·  Lineas rectas del hexagrama (subconjuntos de casillas):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B1F2B"/>
                </a:solidFill>
                <a:latin typeface="Consolas"/>
              </a:rPr>
              <a:t>l₁={1,3,6,8}   l₂={1,4,7,11}   l₃={8,9,10,11}   l₄={2,3,4,5}   l₅={2,6,9,12}   l₆={5,7,10,12}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54680"/>
            <a:ext cx="5486400" cy="1554480"/>
          </a:xfrm>
          <a:prstGeom prst="roundRect">
            <a:avLst>
              <a:gd name="adj" fmla="val 7000"/>
            </a:avLst>
          </a:prstGeom>
          <a:solidFill>
            <a:srgbClr val="ECE5D6"/>
          </a:solidFill>
          <a:ln w="9525">
            <a:solidFill>
              <a:srgbClr val="14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3291840"/>
            <a:ext cx="411480" cy="411480"/>
          </a:xfrm>
          <a:prstGeom prst="ellipse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4EFE6"/>
                </a:solidFill>
              </a:rPr>
              <a:t>R1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6440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A193A"/>
                </a:solidFill>
                <a:latin typeface="Calibri"/>
              </a:rPr>
              <a:t>Suma de cada linea recta = 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61188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B1F2B"/>
                </a:solidFill>
                <a:latin typeface="Calibri"/>
              </a:rPr>
              <a:t>Para cada linea l, existe alguna asignacion de 4 numeros (n1,n2,n3,n4) cuya suma es 26 y que ocupan exactamente las 4 casillas de 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20624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14295C"/>
                </a:solidFill>
                <a:latin typeface="Consolas"/>
              </a:rPr>
              <a:t>⋀_l ⋁_(combs validas) ( D_{n,l[1]} Y D_{n,l[2]} Y D_{n,l[3]} Y D_{n,l[4]} 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154680"/>
            <a:ext cx="5486400" cy="1554480"/>
          </a:xfrm>
          <a:prstGeom prst="roundRect">
            <a:avLst>
              <a:gd name="adj" fmla="val 7000"/>
            </a:avLst>
          </a:prstGeom>
          <a:solidFill>
            <a:srgbClr val="ECE5D6"/>
          </a:solidFill>
          <a:ln w="9525">
            <a:solidFill>
              <a:srgbClr val="14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537960" y="3291840"/>
            <a:ext cx="411480" cy="411480"/>
          </a:xfrm>
          <a:prstGeom prst="ellipse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4EFE6"/>
                </a:solidFill>
              </a:rPr>
              <a:t>R2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26440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A193A"/>
                </a:solidFill>
                <a:latin typeface="Calibri"/>
              </a:rPr>
              <a:t>Todas las casillas estan ocupadas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61188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B1F2B"/>
                </a:solidFill>
                <a:latin typeface="Calibri"/>
              </a:rPr>
              <a:t>Para toda casilla c existe algun numero n tal que n esta en 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20624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14295C"/>
                </a:solidFill>
                <a:latin typeface="Consolas"/>
              </a:rPr>
              <a:t>⋀_c  ⋁_n  D_{n,c}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46320"/>
            <a:ext cx="5486400" cy="1554480"/>
          </a:xfrm>
          <a:prstGeom prst="roundRect">
            <a:avLst>
              <a:gd name="adj" fmla="val 7000"/>
            </a:avLst>
          </a:prstGeom>
          <a:solidFill>
            <a:srgbClr val="ECE5D6"/>
          </a:solidFill>
          <a:ln w="9525">
            <a:solidFill>
              <a:srgbClr val="14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7240" y="4983480"/>
            <a:ext cx="411480" cy="411480"/>
          </a:xfrm>
          <a:prstGeom prst="ellipse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4EFE6"/>
                </a:solidFill>
              </a:rPr>
              <a:t>R3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95604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A193A"/>
                </a:solidFill>
                <a:latin typeface="Calibri"/>
              </a:rPr>
              <a:t>No hay numeros repetidos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30352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B1F2B"/>
                </a:solidFill>
                <a:latin typeface="Calibri"/>
              </a:rPr>
              <a:t>Si el numero n esta en la casilla c, entonces no puede estar en ninguna otra casilla.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89788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14295C"/>
                </a:solidFill>
                <a:latin typeface="Consolas"/>
              </a:rPr>
              <a:t>⋀_n ⋀_c  ( D_{n,c}  →  ¬ ⋁_(e ≠ c)  D_{n,e} 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846320"/>
            <a:ext cx="5486400" cy="1554480"/>
          </a:xfrm>
          <a:prstGeom prst="roundRect">
            <a:avLst>
              <a:gd name="adj" fmla="val 7000"/>
            </a:avLst>
          </a:prstGeom>
          <a:solidFill>
            <a:srgbClr val="ECE5D6"/>
          </a:solidFill>
          <a:ln w="9525">
            <a:solidFill>
              <a:srgbClr val="14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537960" y="4983480"/>
            <a:ext cx="411480" cy="411480"/>
          </a:xfrm>
          <a:prstGeom prst="ellipse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4EFE6"/>
                </a:solidFill>
              </a:rPr>
              <a:t>R4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95604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A193A"/>
                </a:solidFill>
                <a:latin typeface="Calibri"/>
              </a:rPr>
              <a:t>Solo un numero por casilla (a lo sumo)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30352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B1F2B"/>
                </a:solidFill>
                <a:latin typeface="Calibri"/>
              </a:rPr>
              <a:t>Si el numero n esta en la casilla c, entonces ningun otro numero m puede estar en 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89788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14295C"/>
                </a:solidFill>
                <a:latin typeface="Consolas"/>
              </a:rPr>
              <a:t>⋀_c ⋀_(n≠m) ( D_{n,c}  →  ¬ D_{m,c} 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Calibri"/>
              </a:rPr>
              <a:t>Hexagramas Magicos  ·  MACC  ·  2026-01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280160" cy="292608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4EFE6"/>
                </a:solidFill>
                <a:latin typeface="Calibri"/>
              </a:rPr>
              <a:t>  5 / 9   ·   ARQUITECTURA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 dirty="0">
                <a:solidFill>
                  <a:srgbClr val="0A193A"/>
                </a:solidFill>
                <a:latin typeface="Calibri"/>
              </a:rPr>
              <a:t>Como diablos </a:t>
            </a:r>
            <a:r>
              <a:rPr sz="3400" b="1" i="0" dirty="0" err="1">
                <a:solidFill>
                  <a:srgbClr val="0A193A"/>
                </a:solidFill>
                <a:latin typeface="Calibri"/>
              </a:rPr>
              <a:t>esto</a:t>
            </a:r>
            <a:r>
              <a:rPr sz="3400" b="1" i="0" dirty="0">
                <a:solidFill>
                  <a:srgbClr val="0A193A"/>
                </a:solidFill>
                <a:latin typeface="Calibri"/>
              </a:rPr>
              <a:t>, </a:t>
            </a:r>
            <a:r>
              <a:rPr sz="3400" b="1" i="0" dirty="0" err="1">
                <a:solidFill>
                  <a:srgbClr val="0A193A"/>
                </a:solidFill>
                <a:latin typeface="Calibri"/>
              </a:rPr>
              <a:t>regla</a:t>
            </a:r>
            <a:r>
              <a:rPr sz="3400" b="1" i="0" dirty="0">
                <a:solidFill>
                  <a:srgbClr val="0A193A"/>
                </a:solidFill>
                <a:latin typeface="Calibri"/>
              </a:rPr>
              <a:t> </a:t>
            </a:r>
            <a:r>
              <a:rPr sz="3400" b="1" i="0" dirty="0" err="1">
                <a:solidFill>
                  <a:srgbClr val="0A193A"/>
                </a:solidFill>
                <a:latin typeface="Calibri"/>
              </a:rPr>
              <a:t>por</a:t>
            </a:r>
            <a:r>
              <a:rPr sz="3400" b="1" i="0" dirty="0">
                <a:solidFill>
                  <a:srgbClr val="0A193A"/>
                </a:solidFill>
                <a:latin typeface="Calibri"/>
              </a:rPr>
              <a:t> </a:t>
            </a:r>
            <a:r>
              <a:rPr sz="3400" b="1" i="0" dirty="0" err="1">
                <a:solidFill>
                  <a:srgbClr val="0A193A"/>
                </a:solidFill>
                <a:latin typeface="Calibri"/>
              </a:rPr>
              <a:t>regla</a:t>
            </a:r>
            <a:endParaRPr sz="3400" b="1" i="0" dirty="0">
              <a:solidFill>
                <a:srgbClr val="0A193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4A5E8C"/>
                </a:solidFill>
                <a:latin typeface="Calibri"/>
              </a:rPr>
              <a:t>Dos modulos, una clase 'Numero' que ensambla las 4 reglas y 5 SAT-solvers que las consumen.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874519"/>
            <a:ext cx="10972800" cy="0"/>
          </a:xfrm>
          <a:prstGeom prst="line">
            <a:avLst/>
          </a:prstGeom>
          <a:ln w="19050">
            <a:solidFill>
              <a:srgbClr val="B8A3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1488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4A5D23"/>
                </a:solidFill>
                <a:latin typeface="Calibri"/>
              </a:rPr>
              <a:t>MODULOS DEL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A193A"/>
                </a:solidFill>
                <a:latin typeface="Consolas"/>
              </a:rPr>
              <a:t>Logica.py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07208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B1F2B"/>
                </a:solidFill>
                <a:latin typeface="Calibri"/>
              </a:rPr>
              <a:t>Clases Formula, Letra, Negacion, Binario. Descriptor (codifica letras con chr() a partir de 256). nodos_tableaux. Algoritmos: SATtabla, SATtableaux, eliminar_imp, eliminar_doble_imp, eliminar_doble_negacion, DeMorgan, distribuir_o_en_y, fnc(), tseitin(), Ytoria/Otoria.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A193A"/>
                </a:solidFill>
                <a:latin typeface="Consolas"/>
              </a:rPr>
              <a:t>Hexagrama_arr.py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41648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B1F2B"/>
                </a:solidFill>
                <a:latin typeface="Calibri"/>
              </a:rPr>
              <a:t>Clase Numero(N=12, C=12). Reglas regla1..regla4 que devuelven strings en notacion inorder ya balanceados (Ytoria_balanceada y Otoria_balanceada, divide y venceras para evitar formulas degeneradas). Metodo visualizar(I) que pinta el hexagrama con matplotlib a partir de la interpretacion.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83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A193A"/>
                </a:solidFill>
                <a:latin typeface="Consolas"/>
              </a:rPr>
              <a:t>Proyecto_*.ipynb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76088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B1F2B"/>
                </a:solidFill>
                <a:latin typeface="Calibri"/>
              </a:rPr>
              <a:t>Un notebook por algoritmo: Reglas, SATTabla, Tableaux, DPLL, WalkSAT, MiniSAT. Importan Logica + Hexagrama_arr, construyen n = Numero() y ejecutan cada regla por separado y luego la conjuncion total.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4884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4A5D23"/>
                </a:solidFill>
                <a:latin typeface="Calibri"/>
              </a:rPr>
              <a:t>PIPELINE DE UNA REGLA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2514600"/>
            <a:ext cx="347472" cy="347472"/>
          </a:xfrm>
          <a:prstGeom prst="ellipse">
            <a:avLst/>
          </a:prstGeom>
          <a:solidFill>
            <a:srgbClr val="14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4EFE6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49631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A5D23"/>
                </a:solidFill>
                <a:latin typeface="Consolas"/>
              </a:rPr>
              <a:t>regla_i()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78892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B1F2B"/>
                </a:solidFill>
                <a:latin typeface="Calibri"/>
              </a:rPr>
              <a:t>Construye un string inorder con Ytoria_balanceada/Otoria_balanceada.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3108960"/>
            <a:ext cx="347472" cy="347472"/>
          </a:xfrm>
          <a:prstGeom prst="ellipse">
            <a:avLst/>
          </a:prstGeom>
          <a:solidFill>
            <a:srgbClr val="14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4EFE6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9067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A5D23"/>
                </a:solidFill>
                <a:latin typeface="Consolas"/>
              </a:rPr>
              <a:t>inorder_to_tree(s)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38328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B1F2B"/>
                </a:solidFill>
                <a:latin typeface="Calibri"/>
              </a:rPr>
              <a:t>Parsea el string a un arbol de Formula.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703320"/>
            <a:ext cx="347472" cy="347472"/>
          </a:xfrm>
          <a:prstGeom prst="ellipse">
            <a:avLst/>
          </a:prstGeom>
          <a:solidFill>
            <a:srgbClr val="14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4EFE6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68503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A5D23"/>
                </a:solidFill>
                <a:latin typeface="Consolas"/>
              </a:rPr>
              <a:t>tseitin(A)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97764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B1F2B"/>
                </a:solidFill>
                <a:latin typeface="Calibri"/>
              </a:rPr>
              <a:t>Transforma a Forma Normal Conjuntiva polinomial (introduce variables fresh).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4297680"/>
            <a:ext cx="347472" cy="347472"/>
          </a:xfrm>
          <a:prstGeom prst="ellipse">
            <a:avLst/>
          </a:prstGeom>
          <a:solidFill>
            <a:srgbClr val="14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4EFE6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27939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A5D23"/>
                </a:solidFill>
                <a:latin typeface="Consolas"/>
              </a:rPr>
              <a:t>Solver(S)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5720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B1F2B"/>
                </a:solidFill>
                <a:latin typeface="Calibri"/>
              </a:rPr>
              <a:t>SATtabla / SATtableaux / DPLL / WalkSAT / MiniSAT22 sobre la FNC.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892040"/>
            <a:ext cx="347472" cy="347472"/>
          </a:xfrm>
          <a:prstGeom prst="ellipse">
            <a:avLst/>
          </a:prstGeom>
          <a:solidFill>
            <a:srgbClr val="14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4EFE6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87375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A5D23"/>
                </a:solidFill>
                <a:latin typeface="Consolas"/>
              </a:rPr>
              <a:t>filtro(I, 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516636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B1F2B"/>
                </a:solidFill>
                <a:latin typeface="Calibri"/>
              </a:rPr>
              <a:t>Elimina las variables auxiliares de Tseitin del modelo.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5486400"/>
            <a:ext cx="347472" cy="347472"/>
          </a:xfrm>
          <a:prstGeom prst="ellipse">
            <a:avLst/>
          </a:prstGeom>
          <a:solidFill>
            <a:srgbClr val="14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4EFE6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46811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A5D23"/>
                </a:solidFill>
                <a:latin typeface="Consolas"/>
              </a:rPr>
              <a:t>n.visualizar(I)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76072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B1F2B"/>
                </a:solidFill>
                <a:latin typeface="Calibri"/>
              </a:rPr>
              <a:t>Pinta el hexagrama con la interpretacion verdadera.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Calibri"/>
              </a:rPr>
              <a:t>Hexagramas Magicos  ·  MACC  ·  2026-01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280160" cy="292608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4EFE6"/>
                </a:solidFill>
                <a:latin typeface="Calibri"/>
              </a:rPr>
              <a:t>  6 / 9   ·   METODOLOGIA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0A193A"/>
                </a:solidFill>
                <a:latin typeface="Calibri"/>
              </a:rPr>
              <a:t>Como se corrio el experimento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4A5E8C"/>
                </a:solidFill>
                <a:latin typeface="Calibri"/>
              </a:rPr>
              <a:t>Maquina virtual Oracle, Jupyter, 24 h de timeout por regla y un %%time para cada celda.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874519"/>
            <a:ext cx="10972800" cy="0"/>
          </a:xfrm>
          <a:prstGeom prst="line">
            <a:avLst/>
          </a:prstGeom>
          <a:ln w="19050">
            <a:solidFill>
              <a:srgbClr val="B8A3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19456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ECE5D6"/>
          </a:solidFill>
          <a:ln w="9525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35915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A5D23"/>
                </a:solidFill>
                <a:latin typeface="Calibri"/>
              </a:rPr>
              <a:t>ENTORNO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51206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·  VirtualBox / Oracle VM con Python 3.x + Jupyter Notebook.</a:t>
            </a:r>
          </a:p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·  Dependencias: numpy, matplotlib, pycosat, python-sat (Minisat22).</a:t>
            </a:r>
          </a:p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·  sys.setrecursionlimit(10_000_000) para los tableaux y DPLL.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ECE5D6"/>
          </a:solidFill>
          <a:ln w="9525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35915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A5D23"/>
                </a:solidFill>
                <a:latin typeface="Calibri"/>
              </a:rPr>
              <a:t>PROTOCOLO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51206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·  Cada regla (R1, R2, R3, R4) se evalua de forma aislada y luego la conjuncion total ⋀ Ri.</a:t>
            </a:r>
          </a:p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·  Para cada combinacion regla x solver se mide tiempo con %%time.</a:t>
            </a:r>
          </a:p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·  Limite duro de 24 h: si el solver no termina, se reporta como timeout.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ECE5D6"/>
          </a:solidFill>
          <a:ln w="9525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59943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A5D23"/>
                </a:solidFill>
                <a:latin typeface="Calibri"/>
              </a:rPr>
              <a:t>QUE SE COMPARA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83480"/>
            <a:ext cx="51206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·  5 SAT-solvers + 3 estrategias de tableaux (anchura, profundidad, backtracking).</a:t>
            </a:r>
          </a:p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·  Mismo descriptor, mismas reglas, misma codificacion en FNC via Tseitin.</a:t>
            </a:r>
          </a:p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·  Verificacion del modelo con verificar_modelo() (evalua cada regla sobre I).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43484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ECE5D6"/>
          </a:solidFill>
          <a:ln w="9525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459943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A5D23"/>
                </a:solidFill>
                <a:latin typeface="Calibri"/>
              </a:rPr>
              <a:t>REPRODUCIBILIDAD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983480"/>
            <a:ext cx="51206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·  Todo el codigo vive en el repositorio (Logica.py + Hexagrama_arr.py + .ipynb).</a:t>
            </a:r>
          </a:p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·  Los notebooks guardan las salidas con tiempos: basta abrirlos para ver los resultados.</a:t>
            </a:r>
          </a:p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·  El visualizador es deterministico una vez fijada la interpretacion 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Calibri"/>
              </a:rPr>
              <a:t>Hexagramas Magicos  ·  MACC  ·  2026-01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280160" cy="292608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4EFE6"/>
                </a:solidFill>
                <a:latin typeface="Calibri"/>
              </a:rPr>
              <a:t>  7 / 9   ·   RESULTADOS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0A193A"/>
                </a:solidFill>
                <a:latin typeface="Calibri"/>
              </a:rPr>
              <a:t>Corrio? No corrio? Por que?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4A5E8C"/>
                </a:solidFill>
                <a:latin typeface="Calibri"/>
              </a:rPr>
              <a:t>Tiempo de pared (Wall time) reportado por %%time. T/O = timeout 24 h.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874519"/>
            <a:ext cx="10972800" cy="0"/>
          </a:xfrm>
          <a:prstGeom prst="line">
            <a:avLst/>
          </a:prstGeom>
          <a:ln w="19050">
            <a:solidFill>
              <a:srgbClr val="B8A3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40080" y="2148840"/>
            <a:ext cx="2743200" cy="411480"/>
          </a:xfrm>
          <a:prstGeom prst="rect">
            <a:avLst/>
          </a:prstGeom>
          <a:solidFill>
            <a:srgbClr val="14295C"/>
          </a:solidFill>
          <a:ln w="6350">
            <a:solidFill>
              <a:srgbClr val="14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20000" rIns="60000" bIns="20000" rtlCol="0" anchor="ctr"/>
          <a:lstStyle/>
          <a:p>
            <a:pPr algn="ctr"/>
            <a:r>
              <a:rPr sz="1100" b="1">
                <a:solidFill>
                  <a:srgbClr val="F4EFE6"/>
                </a:solidFill>
                <a:latin typeface="Calibri"/>
              </a:rPr>
              <a:t>Solver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148840"/>
            <a:ext cx="1554480" cy="411480"/>
          </a:xfrm>
          <a:prstGeom prst="rect">
            <a:avLst/>
          </a:prstGeom>
          <a:solidFill>
            <a:srgbClr val="14295C"/>
          </a:solidFill>
          <a:ln w="6350">
            <a:solidFill>
              <a:srgbClr val="14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20000" rIns="60000" bIns="20000" rtlCol="0" anchor="ctr"/>
          <a:lstStyle/>
          <a:p>
            <a:pPr algn="ctr"/>
            <a:r>
              <a:rPr sz="1100" b="1">
                <a:solidFill>
                  <a:srgbClr val="F4EFE6"/>
                </a:solidFill>
                <a:latin typeface="Calibri"/>
              </a:rPr>
              <a:t>Regla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148840"/>
            <a:ext cx="1554480" cy="411480"/>
          </a:xfrm>
          <a:prstGeom prst="rect">
            <a:avLst/>
          </a:prstGeom>
          <a:solidFill>
            <a:srgbClr val="14295C"/>
          </a:solidFill>
          <a:ln w="6350">
            <a:solidFill>
              <a:srgbClr val="14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20000" rIns="60000" bIns="20000" rtlCol="0" anchor="ctr"/>
          <a:lstStyle/>
          <a:p>
            <a:pPr algn="ctr"/>
            <a:r>
              <a:rPr sz="1100" b="1">
                <a:solidFill>
                  <a:srgbClr val="F4EFE6"/>
                </a:solidFill>
                <a:latin typeface="Calibri"/>
              </a:rPr>
              <a:t>Regla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148840"/>
            <a:ext cx="1554480" cy="411480"/>
          </a:xfrm>
          <a:prstGeom prst="rect">
            <a:avLst/>
          </a:prstGeom>
          <a:solidFill>
            <a:srgbClr val="14295C"/>
          </a:solidFill>
          <a:ln w="6350">
            <a:solidFill>
              <a:srgbClr val="14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20000" rIns="60000" bIns="20000" rtlCol="0" anchor="ctr"/>
          <a:lstStyle/>
          <a:p>
            <a:pPr algn="ctr"/>
            <a:r>
              <a:rPr sz="1100" b="1">
                <a:solidFill>
                  <a:srgbClr val="F4EFE6"/>
                </a:solidFill>
                <a:latin typeface="Calibri"/>
              </a:rPr>
              <a:t>Regla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148840"/>
            <a:ext cx="1737360" cy="411480"/>
          </a:xfrm>
          <a:prstGeom prst="rect">
            <a:avLst/>
          </a:prstGeom>
          <a:solidFill>
            <a:srgbClr val="14295C"/>
          </a:solidFill>
          <a:ln w="6350">
            <a:solidFill>
              <a:srgbClr val="14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20000" rIns="60000" bIns="20000" rtlCol="0" anchor="ctr"/>
          <a:lstStyle/>
          <a:p>
            <a:pPr algn="ctr"/>
            <a:r>
              <a:rPr sz="1100" b="1">
                <a:solidFill>
                  <a:srgbClr val="F4EFE6"/>
                </a:solidFill>
                <a:latin typeface="Calibri"/>
              </a:rPr>
              <a:t>Regla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2148840"/>
            <a:ext cx="2011680" cy="411480"/>
          </a:xfrm>
          <a:prstGeom prst="rect">
            <a:avLst/>
          </a:prstGeom>
          <a:solidFill>
            <a:srgbClr val="14295C"/>
          </a:solidFill>
          <a:ln w="6350">
            <a:solidFill>
              <a:srgbClr val="14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20000" rIns="60000" bIns="20000" rtlCol="0" anchor="ctr"/>
          <a:lstStyle/>
          <a:p>
            <a:pPr algn="ctr"/>
            <a:r>
              <a:rPr sz="1100" b="1">
                <a:solidFill>
                  <a:srgbClr val="F4EFE6"/>
                </a:solidFill>
                <a:latin typeface="Calibri"/>
              </a:rPr>
              <a:t>Todas (R1..R4)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274320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l"/>
            <a:r>
              <a:rPr sz="1050" b="1">
                <a:solidFill>
                  <a:srgbClr val="1B1F2B"/>
                </a:solidFill>
                <a:latin typeface="Calibri"/>
              </a:rPr>
              <a:t>SATtabla (fuerza bruta)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560320"/>
            <a:ext cx="155448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0.11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560320"/>
            <a:ext cx="155448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≈ 0 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560320"/>
            <a:ext cx="155448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10.7 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560320"/>
            <a:ext cx="173736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11 h 06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2560320"/>
            <a:ext cx="201168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1">
                <a:solidFill>
                  <a:srgbClr val="4A5D23"/>
                </a:solidFill>
                <a:latin typeface="Calibri"/>
              </a:rPr>
              <a:t>T/O (24 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71800"/>
            <a:ext cx="2743200" cy="411480"/>
          </a:xfrm>
          <a:prstGeom prst="rect">
            <a:avLst/>
          </a:prstGeom>
          <a:solidFill>
            <a:srgbClr val="ECE5D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l"/>
            <a:r>
              <a:rPr sz="1050" b="1">
                <a:solidFill>
                  <a:srgbClr val="1B1F2B"/>
                </a:solidFill>
                <a:latin typeface="Calibri"/>
              </a:rPr>
              <a:t>Tableaux  -  anchura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971800"/>
            <a:ext cx="1554480" cy="411480"/>
          </a:xfrm>
          <a:prstGeom prst="rect">
            <a:avLst/>
          </a:prstGeom>
          <a:solidFill>
            <a:srgbClr val="ECE5D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2971800"/>
            <a:ext cx="1554480" cy="411480"/>
          </a:xfrm>
          <a:prstGeom prst="rect">
            <a:avLst/>
          </a:prstGeom>
          <a:solidFill>
            <a:srgbClr val="ECE5D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3 min 12 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971800"/>
            <a:ext cx="1554480" cy="411480"/>
          </a:xfrm>
          <a:prstGeom prst="rect">
            <a:avLst/>
          </a:prstGeom>
          <a:solidFill>
            <a:srgbClr val="ECE5D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2971800"/>
            <a:ext cx="1737360" cy="411480"/>
          </a:xfrm>
          <a:prstGeom prst="rect">
            <a:avLst/>
          </a:prstGeom>
          <a:solidFill>
            <a:srgbClr val="ECE5D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971800"/>
            <a:ext cx="2011680" cy="411480"/>
          </a:xfrm>
          <a:prstGeom prst="rect">
            <a:avLst/>
          </a:prstGeom>
          <a:solidFill>
            <a:srgbClr val="ECE5D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≈ 0.09 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383280"/>
            <a:ext cx="274320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l"/>
            <a:r>
              <a:rPr sz="1050" b="1">
                <a:solidFill>
                  <a:srgbClr val="1B1F2B"/>
                </a:solidFill>
                <a:latin typeface="Calibri"/>
              </a:rPr>
              <a:t>Tableaux  -  profundidad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3383280"/>
            <a:ext cx="155448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2.75 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3383280"/>
            <a:ext cx="155448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36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383280"/>
            <a:ext cx="155448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3383280"/>
            <a:ext cx="173736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3383280"/>
            <a:ext cx="201168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10 h 42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794760"/>
            <a:ext cx="2743200" cy="411480"/>
          </a:xfrm>
          <a:prstGeom prst="rect">
            <a:avLst/>
          </a:prstGeom>
          <a:solidFill>
            <a:srgbClr val="ECE5D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l"/>
            <a:r>
              <a:rPr sz="1050" b="1">
                <a:solidFill>
                  <a:srgbClr val="1B1F2B"/>
                </a:solidFill>
                <a:latin typeface="Calibri"/>
              </a:rPr>
              <a:t>Tableaux  -  backtracking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3794760"/>
            <a:ext cx="1554480" cy="411480"/>
          </a:xfrm>
          <a:prstGeom prst="rect">
            <a:avLst/>
          </a:prstGeom>
          <a:solidFill>
            <a:srgbClr val="ECE5D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2.43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3794760"/>
            <a:ext cx="1554480" cy="411480"/>
          </a:xfrm>
          <a:prstGeom prst="rect">
            <a:avLst/>
          </a:prstGeom>
          <a:solidFill>
            <a:srgbClr val="ECE5D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35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794760"/>
            <a:ext cx="1554480" cy="411480"/>
          </a:xfrm>
          <a:prstGeom prst="rect">
            <a:avLst/>
          </a:prstGeom>
          <a:solidFill>
            <a:srgbClr val="ECE5D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3794760"/>
            <a:ext cx="1737360" cy="411480"/>
          </a:xfrm>
          <a:prstGeom prst="rect">
            <a:avLst/>
          </a:prstGeom>
          <a:solidFill>
            <a:srgbClr val="ECE5D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3794760"/>
            <a:ext cx="2011680" cy="411480"/>
          </a:xfrm>
          <a:prstGeom prst="rect">
            <a:avLst/>
          </a:prstGeom>
          <a:solidFill>
            <a:srgbClr val="ECE5D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6 h 22 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206240"/>
            <a:ext cx="274320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l"/>
            <a:r>
              <a:rPr sz="1050" b="1">
                <a:solidFill>
                  <a:srgbClr val="1B1F2B"/>
                </a:solidFill>
                <a:latin typeface="Calibri"/>
              </a:rPr>
              <a:t>DPLL (Tseitin + UP)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4206240"/>
            <a:ext cx="155448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rapido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4206240"/>
            <a:ext cx="155448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rapido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4206240"/>
            <a:ext cx="155448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rapido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4206240"/>
            <a:ext cx="173736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rapido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4206240"/>
            <a:ext cx="201168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segundos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617720"/>
            <a:ext cx="2743200" cy="411480"/>
          </a:xfrm>
          <a:prstGeom prst="rect">
            <a:avLst/>
          </a:prstGeom>
          <a:solidFill>
            <a:srgbClr val="ECE5D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l"/>
            <a:r>
              <a:rPr sz="1050" b="1">
                <a:solidFill>
                  <a:srgbClr val="1B1F2B"/>
                </a:solidFill>
                <a:latin typeface="Calibri"/>
              </a:rPr>
              <a:t>WalkSAT (estocastico)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80" y="4617720"/>
            <a:ext cx="1554480" cy="411480"/>
          </a:xfrm>
          <a:prstGeom prst="rect">
            <a:avLst/>
          </a:prstGeom>
          <a:solidFill>
            <a:srgbClr val="ECE5D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2 h 01 min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60" y="4617720"/>
            <a:ext cx="1554480" cy="411480"/>
          </a:xfrm>
          <a:prstGeom prst="rect">
            <a:avLst/>
          </a:prstGeom>
          <a:solidFill>
            <a:srgbClr val="ECE5D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0.43 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4617720"/>
            <a:ext cx="1554480" cy="411480"/>
          </a:xfrm>
          <a:prstGeom prst="rect">
            <a:avLst/>
          </a:prstGeom>
          <a:solidFill>
            <a:srgbClr val="ECE5D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12 h 25 min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4617720"/>
            <a:ext cx="1737360" cy="411480"/>
          </a:xfrm>
          <a:prstGeom prst="rect">
            <a:avLst/>
          </a:prstGeom>
          <a:solidFill>
            <a:srgbClr val="ECE5D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14 h 43 min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84080" y="4617720"/>
            <a:ext cx="2011680" cy="411480"/>
          </a:xfrm>
          <a:prstGeom prst="rect">
            <a:avLst/>
          </a:prstGeom>
          <a:solidFill>
            <a:srgbClr val="ECE5D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0.09 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029200"/>
            <a:ext cx="274320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l"/>
            <a:r>
              <a:rPr sz="1050" b="1">
                <a:solidFill>
                  <a:srgbClr val="1B1F2B"/>
                </a:solidFill>
                <a:latin typeface="Calibri"/>
              </a:rPr>
              <a:t>MiniSAT22 (estado del arte)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83280" y="5029200"/>
            <a:ext cx="155448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37760" y="5029200"/>
            <a:ext cx="155448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5029200"/>
            <a:ext cx="155448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5029200"/>
            <a:ext cx="173736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0">
                <a:solidFill>
                  <a:srgbClr val="1B1F2B"/>
                </a:solidFill>
                <a:latin typeface="Calibri"/>
              </a:rPr>
              <a:t>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84080" y="5029200"/>
            <a:ext cx="2011680" cy="411480"/>
          </a:xfrm>
          <a:prstGeom prst="rect">
            <a:avLst/>
          </a:prstGeom>
          <a:solidFill>
            <a:srgbClr val="F4EFE6"/>
          </a:solidFill>
          <a:ln w="508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tIns="20000" rIns="60000" bIns="20000" rtlCol="0" anchor="ctr"/>
          <a:lstStyle/>
          <a:p>
            <a:pPr algn="ctr"/>
            <a:r>
              <a:rPr sz="1050" b="1">
                <a:solidFill>
                  <a:srgbClr val="1B1F2B"/>
                </a:solidFill>
                <a:latin typeface="Calibri"/>
              </a:rPr>
              <a:t>≈ 30 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5321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A5D23"/>
                </a:solidFill>
                <a:latin typeface="Calibri"/>
              </a:rPr>
              <a:t>Observaciones rapidas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85216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·  La fuerza bruta (SATtabla) es viable solo en reglas con pocas letras; la R4 toma 11 horas y la conjuncion total no termina.</a:t>
            </a:r>
          </a:p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·  Tableaux y WalkSAT se atascan en R3/R4 por la cantidad de literales (≈ 240 atomos despues de Tseitin).</a:t>
            </a:r>
          </a:p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·  Curiosamente, tableaux anchura sobre todas las reglas a la vez termina en 0.09 s porque la primera rama abierta aparece muy rapido.</a:t>
            </a:r>
          </a:p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·  MiniSAT22 resuelve TODO el problema en decenas de milisegundos: el salto entre solver academico y solver de estado del arte es brutal.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Calibri"/>
              </a:rPr>
              <a:t>Hexagramas Magicos  ·  MACC  ·  2026-01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1280160" cy="292608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4EFE6"/>
                </a:solidFill>
                <a:latin typeface="Calibri"/>
              </a:rPr>
              <a:t>  8 / 9   ·   DISCUSION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0A193A"/>
                </a:solidFill>
                <a:latin typeface="Calibri"/>
              </a:rPr>
              <a:t>Discusion y 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4A5E8C"/>
                </a:solidFill>
                <a:latin typeface="Calibri"/>
              </a:rPr>
              <a:t>Que aprendimos al hacer chocar 240 atomos contra cinco SAT-solvers distintos.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874519"/>
            <a:ext cx="10972800" cy="0"/>
          </a:xfrm>
          <a:prstGeom prst="line">
            <a:avLst/>
          </a:prstGeom>
          <a:ln w="19050">
            <a:solidFill>
              <a:srgbClr val="B8A3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148840"/>
            <a:ext cx="11155680" cy="777240"/>
          </a:xfrm>
          <a:prstGeom prst="roundRect">
            <a:avLst>
              <a:gd name="adj" fmla="val 18000"/>
            </a:avLst>
          </a:prstGeom>
          <a:solidFill>
            <a:srgbClr val="ECE5D6"/>
          </a:solidFill>
          <a:ln w="635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2199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4A5D23"/>
                </a:solidFill>
                <a:latin typeface="Calibri"/>
              </a:rPr>
              <a:t>MODELADO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221992"/>
            <a:ext cx="8321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Un descriptor binario D_{n,c} es suficiente para capturar el hexagrama. La explosion combinatoria no esta en el numero de atomos (solo 240) sino en el tamano de la formula: la R1 enumera todas las permutaciones de cada combinacion valida y la R4 es cuadratica en 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11155680" cy="777240"/>
          </a:xfrm>
          <a:prstGeom prst="roundRect">
            <a:avLst>
              <a:gd name="adj" fmla="val 18000"/>
            </a:avLst>
          </a:prstGeom>
          <a:solidFill>
            <a:srgbClr val="ECE5D6"/>
          </a:solidFill>
          <a:ln w="635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09067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4A5D23"/>
                </a:solidFill>
                <a:latin typeface="Calibri"/>
              </a:rPr>
              <a:t>TSEITIN IMPORTA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090672"/>
            <a:ext cx="8321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Pasar a FNC ingenuamente seria inviable. Tseitin nos da una FNC de tamano polinomial introduciendo variables auxiliares, a cambio de modelos 'sucios' que hay que filtrar antes de visualizar.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11155680" cy="777240"/>
          </a:xfrm>
          <a:prstGeom prst="roundRect">
            <a:avLst>
              <a:gd name="adj" fmla="val 18000"/>
            </a:avLst>
          </a:prstGeom>
          <a:solidFill>
            <a:srgbClr val="ECE5D6"/>
          </a:solidFill>
          <a:ln w="635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95935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4A5D23"/>
                </a:solidFill>
                <a:latin typeface="Calibri"/>
              </a:rPr>
              <a:t>YTORIA / OTORIA BALANCEADAS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959352"/>
            <a:ext cx="8321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Construir la formula con divide-y-venceras evita arboles totalmente desbalanceados que hacen sufrir al parser y a los solvers basados en arbol (tableaux). No cambia la semantica pero si la profundidad.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54880"/>
            <a:ext cx="11155680" cy="777240"/>
          </a:xfrm>
          <a:prstGeom prst="roundRect">
            <a:avLst>
              <a:gd name="adj" fmla="val 18000"/>
            </a:avLst>
          </a:prstGeom>
          <a:solidFill>
            <a:srgbClr val="ECE5D6"/>
          </a:solidFill>
          <a:ln w="635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82803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4A5D23"/>
                </a:solidFill>
                <a:latin typeface="Calibri"/>
              </a:rPr>
              <a:t>SAT EN LA PRACTICA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828032"/>
            <a:ext cx="8321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SATtabla y tableaux sirven para entender, no para resolver. DPLL con propagacion unitaria ya es razonable, pero MiniSAT22 (CDCL + heuristicas + watched literals) deja a todos los demas en otra liga: cuatro o cinco ordenes de magnitud.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23560"/>
            <a:ext cx="11155680" cy="777240"/>
          </a:xfrm>
          <a:prstGeom prst="roundRect">
            <a:avLst>
              <a:gd name="adj" fmla="val 18000"/>
            </a:avLst>
          </a:prstGeom>
          <a:solidFill>
            <a:srgbClr val="ECE5D6"/>
          </a:solidFill>
          <a:ln w="6350">
            <a:solidFill>
              <a:srgbClr val="4A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69671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4A5D23"/>
                </a:solidFill>
                <a:latin typeface="Calibri"/>
              </a:rPr>
              <a:t>CONCLUSION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696712"/>
            <a:ext cx="8321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B1F2B"/>
                </a:solidFill>
                <a:latin typeface="Calibri"/>
              </a:rPr>
              <a:t>El problema del hexagrama es chico en variables pero combinatorialmente denso. Modelarlo en logica proposicional es directo; resolverlo a mano con solvers academicos no es viable: el camino real es FNC + CDCL.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Calibri"/>
              </a:rPr>
              <a:t>Hexagramas Magicos  ·  MACC  ·  2026-01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B8A371"/>
                </a:solidFill>
                <a:latin typeface="Calibri"/>
              </a:rPr>
              <a:t>9 / 9   ·   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0" b="1" i="0">
                <a:solidFill>
                  <a:srgbClr val="F4EFE6"/>
                </a:solidFill>
                <a:latin typeface="Calibri"/>
              </a:rPr>
              <a:t>Gracias.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606040"/>
            <a:ext cx="2743200" cy="0"/>
          </a:xfrm>
          <a:prstGeom prst="line">
            <a:avLst/>
          </a:prstGeom>
          <a:ln w="31750">
            <a:solidFill>
              <a:srgbClr val="B8A3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8803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B8A371"/>
                </a:solidFill>
                <a:latin typeface="Calibri"/>
              </a:rPr>
              <a:t>AGRADECIMIENTOS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9728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ECE5D6"/>
                </a:solidFill>
                <a:latin typeface="Calibri"/>
              </a:rPr>
              <a:t>Al profesor Daniel Alfonso Bojaca por la guia, el repositorio base y la paciencia</a:t>
            </a:r>
          </a:p>
          <a:p>
            <a:pPr algn="l"/>
            <a:r>
              <a:rPr sz="1500" b="0" i="0">
                <a:solidFill>
                  <a:srgbClr val="ECE5D6"/>
                </a:solidFill>
                <a:latin typeface="Calibri"/>
              </a:rPr>
              <a:t>para revisar formulas de 200 mil caracteres sin parpadear.</a:t>
            </a:r>
          </a:p>
          <a:p>
            <a:pPr algn="l"/>
            <a:endParaRPr sz="1500" b="0" i="0">
              <a:solidFill>
                <a:srgbClr val="ECE5D6"/>
              </a:solidFill>
              <a:latin typeface="Calibri"/>
            </a:endParaRPr>
          </a:p>
          <a:p>
            <a:pPr algn="l"/>
            <a:r>
              <a:rPr sz="1500" b="0" i="0">
                <a:solidFill>
                  <a:srgbClr val="ECE5D6"/>
                </a:solidFill>
                <a:latin typeface="Calibri"/>
              </a:rPr>
              <a:t>A los compañeros del MACC con quienes discutimos descriptores, reglas y</a:t>
            </a:r>
          </a:p>
          <a:p>
            <a:pPr algn="l"/>
            <a:r>
              <a:rPr sz="1500" b="0" i="0">
                <a:solidFill>
                  <a:srgbClr val="ECE5D6"/>
                </a:solidFill>
                <a:latin typeface="Calibri"/>
              </a:rPr>
              <a:t>estrategias de visualizacion hasta encontrar una representacion que cuadrara.</a:t>
            </a:r>
          </a:p>
          <a:p>
            <a:pPr algn="l"/>
            <a:endParaRPr sz="1500" b="0" i="0">
              <a:solidFill>
                <a:srgbClr val="ECE5D6"/>
              </a:solidFill>
              <a:latin typeface="Calibri"/>
            </a:endParaRPr>
          </a:p>
          <a:p>
            <a:pPr algn="l"/>
            <a:r>
              <a:rPr sz="1500" b="0" i="0">
                <a:solidFill>
                  <a:srgbClr val="ECE5D6"/>
                </a:solidFill>
                <a:latin typeface="Calibri"/>
              </a:rPr>
              <a:t>A la comunidad detras de PySAT y MiniSAT22, por recordarnos que el estado del arte</a:t>
            </a:r>
          </a:p>
          <a:p>
            <a:pPr algn="l"/>
            <a:r>
              <a:rPr sz="1500" b="0" i="0">
                <a:solidFill>
                  <a:srgbClr val="ECE5D6"/>
                </a:solidFill>
                <a:latin typeface="Calibri"/>
              </a:rPr>
              <a:t>existe y que vale la pena pararse sobre hombros de gigantes.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B8A371"/>
                </a:solidFill>
                <a:latin typeface="Calibri"/>
              </a:rPr>
              <a:t>Samuel Galindo  ·  John Valbuena  ·  Alejandro Jimenez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ECE5D6"/>
                </a:solidFill>
                <a:latin typeface="Calibri"/>
              </a:rPr>
              <a:t>Logica para Ciencias de la Computacion  ·  2026-01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1904</Words>
  <Application>Microsoft Office PowerPoint</Application>
  <PresentationFormat>Widescreen</PresentationFormat>
  <Paragraphs>199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Elfiru 19</cp:lastModifiedBy>
  <cp:revision>2</cp:revision>
  <dcterms:created xsi:type="dcterms:W3CDTF">2013-01-27T09:14:16Z</dcterms:created>
  <dcterms:modified xsi:type="dcterms:W3CDTF">2026-05-21T02:45:52Z</dcterms:modified>
  <cp:category/>
</cp:coreProperties>
</file>