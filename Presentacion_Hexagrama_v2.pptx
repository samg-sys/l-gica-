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640080"/>
            <a:ext cx="10058400" cy="1554480"/>
          </a:xfrm>
          <a:prstGeom prst="roundRect">
            <a:avLst/>
          </a:prstGeom>
          <a:solidFill>
            <a:srgbClr val="D2DCEE"/>
          </a:solidFill>
          <a:ln w="1270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0F1E3F"/>
                </a:solidFill>
                <a:latin typeface="Calibri"/>
              </a:rPr>
              <a:t>Hexagrama Magico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Formalizacion mediante Logica Proposicional y verificacion 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3D5586"/>
                </a:solidFill>
                <a:latin typeface="Calibri"/>
              </a:rPr>
              <a:t>SATtabla  ·  SATtableaux  ·  DPLL  ·  WalkSAT  ·  MiniSAT22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E3F"/>
                </a:solidFill>
                <a:latin typeface="Calibri"/>
              </a:rPr>
              <a:t>Samuel Alejandro Galindo     John Sebastian Valbuena   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93F6C"/>
                </a:solidFill>
                <a:latin typeface="Calibri"/>
              </a:rPr>
              <a:t>Logica para Ciencias de la Computacion</a:t>
            </a:r>
          </a:p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93F6C"/>
                </a:solidFill>
                <a:latin typeface="Calibri"/>
              </a:rPr>
              <a:t>Matematicas Aplicadas y Ciencias de la Computacion - MACC</a:t>
            </a:r>
          </a:p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93F6C"/>
                </a:solidFill>
                <a:latin typeface="Calibri"/>
              </a:rPr>
              <a:t>Escuela de Ingenieria, Ciencia y Tecnologia</a:t>
            </a:r>
          </a:p>
        </p:txBody>
      </p:sp>
      <p:pic>
        <p:nvPicPr>
          <p:cNvPr id="10" name="Picture 9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160520"/>
            <a:ext cx="237744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42976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Profesor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Daniel Alfonso Bojaca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2976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Fecha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572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Mayo de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Bogota, Colombia  ·  Periodo 2026-01  ·  Codigo 11310035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13716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3716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Bienvenida e Introduccion al Problema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18745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1874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8745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Sistema de Representacion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23774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2377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3774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Reglas del Problema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28803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8803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Arquitectura e Implementacion Computacional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338328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3383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83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Metodos SAT Solver</a:t>
            </a:r>
          </a:p>
        </p:txBody>
      </p:sp>
      <p:sp>
        <p:nvSpPr>
          <p:cNvPr id="26" name="Oval 25"/>
          <p:cNvSpPr/>
          <p:nvPr/>
        </p:nvSpPr>
        <p:spPr>
          <a:xfrm>
            <a:off x="1645920" y="38862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8862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Metodologia y Analisis Experimental</a:t>
            </a:r>
          </a:p>
        </p:txBody>
      </p:sp>
      <p:sp>
        <p:nvSpPr>
          <p:cNvPr id="29" name="Oval 28"/>
          <p:cNvSpPr/>
          <p:nvPr/>
        </p:nvSpPr>
        <p:spPr>
          <a:xfrm>
            <a:off x="1645920" y="43891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45920" y="4389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3891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Resultados y Analisis Comparativo</a:t>
            </a:r>
          </a:p>
        </p:txBody>
      </p:sp>
      <p:sp>
        <p:nvSpPr>
          <p:cNvPr id="32" name="Oval 31"/>
          <p:cNvSpPr/>
          <p:nvPr/>
        </p:nvSpPr>
        <p:spPr>
          <a:xfrm>
            <a:off x="1645920" y="48920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4892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Discusion y Conclusiones</a:t>
            </a:r>
          </a:p>
        </p:txBody>
      </p:sp>
      <p:sp>
        <p:nvSpPr>
          <p:cNvPr id="35" name="Oval 34"/>
          <p:cNvSpPr/>
          <p:nvPr/>
        </p:nvSpPr>
        <p:spPr>
          <a:xfrm>
            <a:off x="1645920" y="53949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45920" y="5394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394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Agradecimientos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1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Introduccion al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Que es un hexagrama magico y por que merece ser modelado
con logica proposicional.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El Hexagrama Magico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Definicion: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Estrella de seis puntas (hexagrama), formada por DOS triangulos equilateros superpuestos.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Es la estrella magica mas pequena que existe: en notacion star polygon es m | p con m = 6 y p = 2.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Consta de 12 casillas y 6 lineas rectas, cada linea con 4 casillas.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Se colocan los numeros 1, 2, ..., 12 sin repetir, uno por casilla.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La suma de los cuatro numeros de cada linea debe ser igual a una constante magica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Constante magica: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2C55"/>
                </a:solidFill>
                <a:latin typeface="Cambria"/>
              </a:rPr>
              <a:t>M(m) = 4m + 2          </a:t>
            </a:r>
            <a:r>
              <a:rPr sz="1600" b="0" i="1">
                <a:solidFill>
                  <a:srgbClr val="293F6C"/>
                </a:solidFill>
                <a:latin typeface="Cambria"/>
              </a:rPr>
              <a:t>→  M(6) = 4(6) + 2 = 26</a:t>
            </a:r>
          </a:p>
        </p:txBody>
      </p:sp>
      <p:pic>
        <p:nvPicPr>
          <p:cNvPr id="15" name="Picture 14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389120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5532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Hexagrama con M = 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Anatomia del Hexagrama: las 6 Lineas Rectas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5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Cada linea recta es un subconjunto de 4 casillas (de las 12 totales):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63040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4630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1, 3, 6, 8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4630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superior - lado izquierdo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29968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1, 4, 7, 11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299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superior - lado derecho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96896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5968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59689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8, 9, 10, 11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596896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superior - 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63824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163824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163824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2, 3, 4, 5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163824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inferior - base superior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30752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730752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7307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2, 6, 9, 12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73075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inferior - lado izquierdo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2976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5, 7, 10, 12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2976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inferior - lado derecho</a:t>
            </a:r>
          </a:p>
        </p:txBody>
      </p:sp>
      <p:pic>
        <p:nvPicPr>
          <p:cNvPr id="36" name="Picture 35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0160"/>
            <a:ext cx="4023360" cy="4023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80960" y="53492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Numeracion de casillas del proyecto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1208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2C55"/>
                </a:solidFill>
                <a:latin typeface="Calibri"/>
              </a:rPr>
              <a:t>Observacion: </a:t>
            </a:r>
            <a:r>
              <a:rPr sz="1200" b="0" i="1">
                <a:solidFill>
                  <a:srgbClr val="0F1E3F"/>
                </a:solidFill>
                <a:latin typeface="Calibri"/>
              </a:rPr>
              <a:t>la casilla central no existe en el hexagrama; las casillas 6 y 7 son los cruces interiores. Cada casilla pertenece exactamente a dos lineas rectas.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Por que es un Problema 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6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Un problema combinatorio chico en numeros pero denso en restricciones: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E4EAF5"/>
          </a:solidFill>
          <a:ln w="889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A2C55"/>
                </a:solidFill>
                <a:latin typeface="Calibri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3D5586"/>
                </a:solidFill>
                <a:latin typeface="Calibri"/>
              </a:rPr>
              <a:t>configuraciones esencialmente distintas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Aunque parece un puzzle simple, existen exactamente 80 hexagramas magicos distintos modulo simetrias.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54480"/>
            <a:ext cx="3657600" cy="4114800"/>
          </a:xfrm>
          <a:prstGeom prst="roundRect">
            <a:avLst/>
          </a:prstGeom>
          <a:solidFill>
            <a:srgbClr val="E4EAF5"/>
          </a:solidFill>
          <a:ln w="889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A2C55"/>
                </a:solidFill>
                <a:latin typeface="Calibri"/>
              </a:rPr>
              <a:t>12!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08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3D5586"/>
                </a:solidFill>
                <a:latin typeface="Calibri"/>
              </a:rPr>
              <a:t>ordenes posibles sin restricciones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12! = 479,001,600 maneras de colocar 12 numeros. Solo una fraccion infima cumple las 4 restricciones.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554480"/>
            <a:ext cx="3657600" cy="4114800"/>
          </a:xfrm>
          <a:prstGeom prst="roundRect">
            <a:avLst/>
          </a:prstGeom>
          <a:solidFill>
            <a:srgbClr val="E4EAF5"/>
          </a:solidFill>
          <a:ln w="889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7373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A2C55"/>
                </a:solidFill>
                <a:latin typeface="Calibri"/>
              </a:rPr>
              <a:t>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3D5586"/>
                </a:solidFill>
                <a:latin typeface="Calibri"/>
              </a:rPr>
              <a:t>variables proposicionales en nuestro 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576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Con un descriptor binario D_{n,c} y dominios extendidos cubrimos toda la combinatoria.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A2C55"/>
                </a:solidFill>
                <a:latin typeface="Calibri"/>
              </a:rPr>
              <a:t>Objetivo: codificar las restricciones como formula proposicional y probar satisfacibilidad con cinco SAT-solvers.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Sistema de Representacion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Un unico descriptor binario y la codificacion de
cada par (numero, casilla) como una letra proposicional.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Variables Proposicionales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8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Predicado: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2C55"/>
                </a:solidFill>
                <a:latin typeface="Calibri"/>
              </a:rPr>
              <a:t>D</a:t>
            </a:r>
            <a:r>
              <a:rPr sz="2200" b="1" i="1">
                <a:solidFill>
                  <a:srgbClr val="1A2C55"/>
                </a:solidFill>
                <a:latin typeface="Calibri"/>
              </a:rPr>
              <a:t>n,c</a:t>
            </a:r>
            <a:r>
              <a:rPr sz="2200" b="0" i="0">
                <a:solidFill>
                  <a:srgbClr val="0F1E3F"/>
                </a:solidFill>
                <a:latin typeface="Calibri"/>
              </a:rPr>
              <a:t>   :   </a:t>
            </a:r>
            <a:r>
              <a:rPr sz="1800" b="0" i="1">
                <a:solidFill>
                  <a:srgbClr val="0F1E3F"/>
                </a:solidFill>
                <a:latin typeface="Calibri"/>
              </a:rPr>
              <a:t>"El numero </a:t>
            </a:r>
            <a:r>
              <a:rPr sz="1800" b="1" i="1">
                <a:solidFill>
                  <a:srgbClr val="293F6C"/>
                </a:solidFill>
                <a:latin typeface="Calibri"/>
              </a:rPr>
              <a:t>n</a:t>
            </a:r>
            <a:r>
              <a:rPr sz="1800" b="0" i="1">
                <a:solidFill>
                  <a:srgbClr val="0F1E3F"/>
                </a:solidFill>
                <a:latin typeface="Calibri"/>
              </a:rPr>
              <a:t> se encuentra en la casilla </a:t>
            </a:r>
            <a:r>
              <a:rPr sz="1800" b="1" i="1">
                <a:solidFill>
                  <a:srgbClr val="293F6C"/>
                </a:solidFill>
                <a:latin typeface="Calibri"/>
              </a:rPr>
              <a:t>c</a:t>
            </a:r>
            <a:r>
              <a:rPr sz="1800" b="0" i="1">
                <a:solidFill>
                  <a:srgbClr val="0F1E3F"/>
                </a:solidFill>
                <a:latin typeface="Calibri"/>
              </a:rPr>
              <a:t>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Conjuntos: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N = { 1, 2, ..., 20 }  (numeros)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C = { 1, 2, ..., 12 }  (casillas)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Lineas = { l₁, ..., l₆ }  (6 lineas rectas)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Cardinalidad: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657600" cy="14630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3154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C55"/>
                </a:solidFill>
                <a:latin typeface="Cambria"/>
              </a:rPr>
              <a:t>|N|  ·  |C|  =  20 ·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0F1E3F"/>
                </a:solidFill>
                <a:latin typeface="Calibri"/>
              </a:rPr>
              <a:t>240 atomos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Operadores: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6324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Y    (conjuncion,  ∧)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O    (disyuncion,  ∨)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-    (negacion,    ¬)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&gt;    (implicacion, →)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=    (equivalencia,↔)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11247120" cy="914400"/>
          </a:xfrm>
          <a:prstGeom prst="roundRect">
            <a:avLst/>
          </a:prstGeom>
          <a:solidFill>
            <a:srgbClr val="D2DCEE"/>
          </a:solidFill>
          <a:ln w="762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C55"/>
                </a:solidFill>
                <a:latin typeface="Calibri"/>
              </a:rPr>
              <a:t>Codificacion de letras: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la clase </a:t>
            </a:r>
            <a:r>
              <a:rPr sz="1200" b="1" i="0">
                <a:solidFill>
                  <a:srgbClr val="0F1E3F"/>
                </a:solidFill>
                <a:latin typeface="Consolas"/>
              </a:rPr>
              <a:t>Descriptor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 en </a:t>
            </a:r>
            <a:r>
              <a:rPr sz="1200" b="1" i="0">
                <a:solidFill>
                  <a:srgbClr val="0F1E3F"/>
                </a:solidFill>
                <a:latin typeface="Consolas"/>
              </a:rPr>
              <a:t>Logica.py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 mapea cada par (n,c) a un caracter unico usando </a:t>
            </a:r>
            <a:r>
              <a:rPr sz="1200" b="1" i="0">
                <a:solidFill>
                  <a:srgbClr val="0F1E3F"/>
                </a:solidFill>
                <a:latin typeface="Consolas"/>
              </a:rPr>
              <a:t>chr(256 + n*|C| + c)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. Asi, una sola letra (1 caracter Unicode) representa un atomo proposicional.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Cardinalidad: por que n llega hasta 20?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9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Una sutileza importante del modelo: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164592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Pregunta clave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75104"/>
            <a:ext cx="1124712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048256"/>
            <a:ext cx="109179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Si solo usamos numeros del 1 al 12, por que el dominio de n llega hasta 20?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Razon: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1247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La regla 1 enumera combinaciones de 4 numeros distintos cuya SUMA sea 26.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La maxima suma alcanzable con 4 numeros distintos cuyos valores son lo mas grandes posibles es 20 + 3 + 2 + 1 = 26.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Si truncaramos a {1..12}, perderiamos combinaciones como (20, 3, 2, 1) y solo obtendriamos parte de las 80 configuraciones validas.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Trabajar con n in {1..20} garantiza generar TODAS las combinaciones validas (luego la solucion del solver solo asigna numeros 1..12 a casillas, sin contradiccion).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Conectivos Iterados: Ytoria y Otoria Balanceadas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10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Construyendo formulas grandes sin que el arbol explote: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1554480"/>
            <a:ext cx="51572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Ytoria_balanceada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83664"/>
            <a:ext cx="5486400" cy="204825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1956816"/>
            <a:ext cx="5157216" cy="1938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Reemplaza una conjuncion iterada (A₁ Y A₂ Y ... Y Aₙ) por un arbol BINARIO BALANCEADO mediante divide-y-venceras.</a:t>
            </a:r>
          </a:p>
          <a:p>
            <a:pPr algn="l">
              <a:lnSpc>
                <a:spcPct val="115000"/>
              </a:lnSpc>
            </a:pPr>
            <a:endParaRPr sz="1100" b="0" i="0">
              <a:solidFill>
                <a:srgbClr val="0F1E3F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Beneficio: la profundidad pasa de n a log₂(n), lo cual es CRITICO para tableaux (que descomponen por la raiz) y para el parser.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54864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1554480"/>
            <a:ext cx="51572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Otoria_balanceada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83664"/>
            <a:ext cx="5486400" cy="204825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1956816"/>
            <a:ext cx="5157216" cy="1938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Analoga para la disyuncion iterada (A₁ O A₂ O ... O Aₙ).</a:t>
            </a:r>
          </a:p>
          <a:p>
            <a:pPr algn="l">
              <a:lnSpc>
                <a:spcPct val="115000"/>
              </a:lnSpc>
            </a:pPr>
            <a:endParaRPr sz="1100" b="0" i="0">
              <a:solidFill>
                <a:srgbClr val="0F1E3F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En la regla 1, la disyuncion enumera TODAS las permutaciones validas por linea: sin balanceo el arbol seria una cadena lineal de miles de O encadenadas.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5528" y="42519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6696" y="42519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def </a:t>
            </a:r>
            <a:r>
              <a:rPr sz="1100" b="1" i="0">
                <a:solidFill>
                  <a:srgbClr val="61AFEF"/>
                </a:solidFill>
                <a:latin typeface="Consolas"/>
              </a:rPr>
              <a:t>Ytoria_balanceada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(lista):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n = len(lista)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if 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n == 0: </a:t>
            </a:r>
            <a:r>
              <a:rPr sz="1100" b="0" i="0">
                <a:solidFill>
                  <a:srgbClr val="C678DD"/>
                </a:solidFill>
                <a:latin typeface="Consolas"/>
              </a:rPr>
              <a:t>return 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''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if 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n == 1: </a:t>
            </a:r>
            <a:r>
              <a:rPr sz="1100" b="0" i="0">
                <a:solidFill>
                  <a:srgbClr val="C678DD"/>
                </a:solidFill>
                <a:latin typeface="Consolas"/>
              </a:rPr>
              <a:t>return 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lista[0]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mid = n // 2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return 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"("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 + Ytoria_balanceada(lista[:mid])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 + "Y"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 + Ytoria_balanceada(lista[mid:])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 + ")"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Reglas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Cuatro restricciones que, juntas, caracterizan
exactamente a los hexagramas magicos validos.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1: Suma de cada Linea Recta =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12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La suma de los cuatro numeros que ocupan cualquier linea recta del hexagrama debe ser exactamente 26.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⋀  l ∈ Lineas      ⋁  (n₁,n₂,n₃,n₄) ∈ Combs(l)    ( Dₙ₁,l[1]  Y  Dₙ₂,l[2]  Y  Dₙ₃,l[3]  Y  Dₙ₄,l[4] )</a:t>
            </a:r>
          </a:p>
          <a:p>
            <a:pPr algn="l">
              <a:lnSpc>
                <a:spcPct val="115000"/>
              </a:lnSpc>
            </a:pPr>
            <a:endParaRPr sz="1400" b="0" i="0">
              <a:solidFill>
                <a:srgbClr val="0F1E3F"/>
              </a:solidFill>
              <a:latin typeface="Cambria"/>
            </a:endParaRP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donde  Combs(l) = { permutaciones de 4 numeros distintos cuya suma = 26 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Para cada linea l existe alguna asignacion de 4 numeros distintos cuya suma es 26 y que ocupan exactamente las 4 casillas de l. Es la regla mas pesada: combina seleccion de combinaciones (subset-sum) con todas las permutaciones validas.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2: Completitud de Casillas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13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Ninguna casilla del hexagrama puede quedar vacia.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                      ⋀  c ∈ Casillas     ⋁  n ∈ N    Dₙ,c</a:t>
            </a:r>
          </a:p>
          <a:p>
            <a:pPr algn="l">
              <a:lnSpc>
                <a:spcPct val="115000"/>
              </a:lnSpc>
            </a:pPr>
            <a:endParaRPr sz="1400" b="0" i="0">
              <a:solidFill>
                <a:srgbClr val="0F1E3F"/>
              </a:solidFill>
              <a:latin typeface="Cambria"/>
            </a:endParaRP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Para toda casilla c, existe al menos un numero n tal que n esta en 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Garantiza que cada una de las 12 casillas tenga al menos un numero asignado. Es la regla mas estructurada y suele resolverse en milisegundos por cualquier solver.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3: Unicidad Global del Numero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14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Si un numero esta en una casilla, no puede estar en ninguna otra (no hay numeros repetidos).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    ⋀  n ∈ N      ⋀  c ∈ Casillas    ( Dₙ,c  →  ¬  ⋁  e ≠ c    Dₙ,e )</a:t>
            </a:r>
          </a:p>
          <a:p>
            <a:pPr algn="l">
              <a:lnSpc>
                <a:spcPct val="115000"/>
              </a:lnSpc>
            </a:pPr>
            <a:endParaRPr sz="1400" b="0" i="0">
              <a:solidFill>
                <a:srgbClr val="0F1E3F"/>
              </a:solidFill>
              <a:latin typeface="Cambria"/>
            </a:endParaRP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Si n esta en c, entonces n NO esta en ninguna otra casilla e ≠ 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Implementa exclusion mutua a nivel de numero. Genera del orden de |N|*|C|*(|C|-1) implicaciones, lo que se traduce en miles de clausulas tras Tseitin.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4: A lo sumo un Numero por Casilla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15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Cada casilla contiene a lo sumo un numero (no se pueden poner dos numeros distintos en la misma posicion).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    ⋀  c ∈ Casillas   ⋀  n,m ∈ N, n ≠ m    ( Dₙ,c  →  ¬  Dₘ,c )</a:t>
            </a:r>
          </a:p>
          <a:p>
            <a:pPr algn="l">
              <a:lnSpc>
                <a:spcPct val="115000"/>
              </a:lnSpc>
            </a:pPr>
            <a:endParaRPr sz="1400" b="0" i="0">
              <a:solidFill>
                <a:srgbClr val="0F1E3F"/>
              </a:solidFill>
              <a:latin typeface="Cambria"/>
            </a:endParaRP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Si n esta en c, entonces ningun otro numero m puede estar tambien en 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Implementa exclusion mutua a nivel de casilla. Es cuadratica en |N|: con |N|=20 y |C|=12 genera 12 · 20 · 19 = 4,560 implicaciones binarias. Es la regla que mas castiga a la fuerza bruta.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Arquitectura e Implementacion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Dos modulos, una clase central y un pipeline
de 6 pasos para llevar una regla a un modelo dibujado.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Arquitectura General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17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Modulos: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669280" cy="150876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4447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onsolas"/>
              </a:rPr>
              <a:t>Logica.py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308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E3F"/>
                </a:solidFill>
                <a:latin typeface="Calibri"/>
              </a:rPr>
              <a:t>Clases Formula, Letra, Negacion, Binario. Clase Descriptor (chr/ord). Algoritmos: SATtabla, SATtableaux. Transformaciones a FNC: eliminar_imp, DeMorgan, distribuir_o_en_y, fnc(), tseitin(). Iteradores: Ytoria, Otoria, nodos_tableaux.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669280" cy="150876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onsolas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E3F"/>
                </a:solidFill>
                <a:latin typeface="Calibri"/>
              </a:rPr>
              <a:t>Clase Numero(N=12, C=12). Implementa regla1..regla4 devolviendo strings inorder. Define Ytoria_balanceada y Otoria_balanceada (divide-y-venceras). Metodo visualizar(I) que pinta el hexagrama con matplotlib.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5669280" cy="150876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onsolas"/>
              </a:rPr>
              <a:t>Proyecto_*.ipynb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E3F"/>
                </a:solidFill>
                <a:latin typeface="Calibri"/>
              </a:rPr>
              <a:t>Un notebook por solver: Reglas, SATTabla, Tableaux, DPLL, WalkSAT, MiniSAT. Cada uno construye n = Numero(), evalua cada regla por separado y luego la conjuncion total.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Pipeline de una regla: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39903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regla_i()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6916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Construye string inorder con Y/Otoria_balanceada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0574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03911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inorder_to_tree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3317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Parsea el string a un arbol Formula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69748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697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67919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tseitin(A)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Transforma a FNC polinomial (variables fresh)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31927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Solver(S)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11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SATtabla / Tableaux / DPLL / WalkSAT / MiniSAT22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95935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filtro(I, 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2519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Elimina variables auxiliares de Tseitin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9943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n.visualizar(I)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892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Dibuja el hexagrama con la interpretacion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La Clase Numero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18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El corazon del modelado: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6858000" cy="493776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3544" y="1517904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24712" y="1517904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25880" y="1517904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 - class Numero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6309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C678DD"/>
                </a:solidFill>
                <a:latin typeface="Consolas"/>
              </a:rPr>
              <a:t>class </a:t>
            </a:r>
            <a:r>
              <a:rPr sz="1100" b="1" i="0" dirty="0" err="1">
                <a:solidFill>
                  <a:srgbClr val="E5C07B"/>
                </a:solidFill>
                <a:latin typeface="Consolas"/>
              </a:rPr>
              <a:t>Numero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:</a:t>
            </a:r>
          </a:p>
          <a:p>
            <a:pPr algn="l">
              <a:lnSpc>
                <a:spcPct val="118000"/>
              </a:lnSpc>
            </a:pPr>
            <a:endParaRPr sz="1100" b="0" i="0" dirty="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C678DD"/>
                </a:solidFill>
                <a:latin typeface="Consolas"/>
              </a:rPr>
              <a:t>    def </a:t>
            </a:r>
            <a:r>
              <a:rPr sz="1100" b="0" i="0" dirty="0">
                <a:solidFill>
                  <a:srgbClr val="61AFEF"/>
                </a:solidFill>
                <a:latin typeface="Consolas"/>
              </a:rPr>
              <a:t>__</a:t>
            </a:r>
            <a:r>
              <a:rPr sz="1100" b="0" i="0" dirty="0" err="1">
                <a:solidFill>
                  <a:srgbClr val="61AFEF"/>
                </a:solidFill>
                <a:latin typeface="Consolas"/>
              </a:rPr>
              <a:t>init</a:t>
            </a:r>
            <a:r>
              <a:rPr sz="1100" b="0" i="0" dirty="0">
                <a:solidFill>
                  <a:srgbClr val="61AFEF"/>
                </a:solidFill>
                <a:latin typeface="Consolas"/>
              </a:rPr>
              <a:t>__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(self, N=12, C=12):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self.N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 = N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self.C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 = C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self.NenC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 = </a:t>
            </a:r>
            <a:r>
              <a:rPr sz="1100" b="0" i="0" dirty="0">
                <a:solidFill>
                  <a:srgbClr val="E5C07B"/>
                </a:solidFill>
                <a:latin typeface="Consolas"/>
              </a:rPr>
              <a:t>Descriptor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([N, C])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self.NenC.escribir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 =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MethodType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   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escribir_numero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,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self.NenC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r1 = self.regla1()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r2 = self.regla2()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r3 = self.regla3()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r4 = self.regla4()</a:t>
            </a:r>
          </a:p>
          <a:p>
            <a:pPr algn="l">
              <a:lnSpc>
                <a:spcPct val="118000"/>
              </a:lnSpc>
            </a:pPr>
            <a:r>
              <a:rPr sz="11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1100" b="0" i="0" dirty="0" err="1">
                <a:solidFill>
                  <a:srgbClr val="E6EDF8"/>
                </a:solidFill>
                <a:latin typeface="Consolas"/>
              </a:rPr>
              <a:t>self.reglas</a:t>
            </a:r>
            <a:r>
              <a:rPr sz="1100" b="0" i="0" dirty="0">
                <a:solidFill>
                  <a:srgbClr val="E6EDF8"/>
                </a:solidFill>
                <a:latin typeface="Consolas"/>
              </a:rPr>
              <a:t> = [r1, r2, r3, r4]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Atributos clave: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737360"/>
            <a:ext cx="41148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N = 12: cuantos numeros (1..12 visibles)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C = 12: cuantas casillas en el hexagrama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NenC: descriptor binario (numero, casilla)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reglas: lista [r1, r2, r3, r4] en inorder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114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Por que aqui?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Encapsular el problema permite que cada SAT solver simplemente reciba el atributo n.reglas y trabaje sobre el. La separacion Logica.py / Hexagrama_arr.py mantiene el problema independiente del motor.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1 (suma = 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19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Enumera combinaciones validas de 4 numeros que sumen 26 y todas sus permutaciones sobre cada linea.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0664" y="1591056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2" y="1591056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43000" y="1591056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845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def regla1(self):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val_numeros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np.arange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self.N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# 1)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combinaciones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de 4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numeros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distintos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cuya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suma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sea 26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comb_validas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np.array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([c for c in combinations(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val_numeros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, 4)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             if sum(x + 1 for x in c) == 26])</a:t>
            </a:r>
          </a:p>
          <a:p>
            <a:pPr algn="l">
              <a:lnSpc>
                <a:spcPct val="118000"/>
              </a:lnSpc>
            </a:pPr>
            <a:endParaRPr sz="900" b="0" i="0" dirty="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# 2) las 6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rectas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subconjuntos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de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casillas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np.array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([[0,2,5,7], [0,3,6,10], [7,8,9,10],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       [1,2,3,4], [1,5,8,11], [4,6,9,11]])</a:t>
            </a:r>
          </a:p>
          <a:p>
            <a:pPr algn="l">
              <a:lnSpc>
                <a:spcPct val="118000"/>
              </a:lnSpc>
            </a:pPr>
            <a:endParaRPr sz="900" b="0" i="0" dirty="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formulas_lineas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= []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for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in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: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opciones_linea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 = []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for comb in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comb_validas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: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for perm in permutations(comb):  # 4! = 24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ordenes</a:t>
            </a:r>
            <a:endParaRPr sz="900" b="0" i="0" dirty="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c0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self.NenC.ravel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([perm[0],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[0]])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c1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self.NenC.ravel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([perm[1],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[1]])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c2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self.NenC.ravel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([perm[2],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[2]])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c3 =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self.NenC.ravel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([perm[3],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[3]])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    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opciones_linea.append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Ytoria_balanceada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([c0,c1,c2,c3]))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   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formulas_lineas.append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Otoria_balanceada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opciones_linea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))</a:t>
            </a:r>
          </a:p>
          <a:p>
            <a:pPr algn="l">
              <a:lnSpc>
                <a:spcPct val="118000"/>
              </a:lnSpc>
            </a:pPr>
            <a:r>
              <a:rPr sz="900" b="0" i="0" dirty="0">
                <a:solidFill>
                  <a:srgbClr val="E6EDF8"/>
                </a:solidFill>
                <a:latin typeface="Consolas"/>
              </a:rPr>
              <a:t>    return 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Ytoria_balanceada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(</a:t>
            </a:r>
            <a:r>
              <a:rPr sz="900" b="0" i="0" dirty="0" err="1">
                <a:solidFill>
                  <a:srgbClr val="E6EDF8"/>
                </a:solidFill>
                <a:latin typeface="Consolas"/>
              </a:rPr>
              <a:t>formulas_lineas</a:t>
            </a:r>
            <a:r>
              <a:rPr sz="900" b="0" i="0" dirty="0">
                <a:solidFill>
                  <a:srgbClr val="E6EDF8"/>
                </a:solidFill>
                <a:latin typeface="Consola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Para cada una de las 6 lineas se generan miles de cuadruplas validas; la disyuncion balanceada agrupa todas las opciones validas y la conjuncion global pide que todas las lineas sean satisfechas.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2 (completitud)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20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Cada casilla c debe contener al menos un numero 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3816" y="1545336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14984" y="1545336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16152" y="1545336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regla2(self):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casillas = np.arange(self.C)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numeros  = np.arange(self.N)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lista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c in casillas: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lista_o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n in numeros: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lista_o.append(self.NenC.ravel([n, c]))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lista.append(Otoria_balanceada(lista_o))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Ytoria_balanceada(lista)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Una Otoria por casilla (existe algun numero) envuelta en una Ytoria global (para todas las casillas).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3 (unicidad global)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21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Si el numero n esta en c, no puede estar en otra casilla.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0664" y="1563624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2" y="1563624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43000" y="1563624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regla3(self):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num_casillas = np.array([(n, 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for n in range(self.N)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for c in range(self.C)])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lista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m in num_casillas: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n, c = m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otras_casillas = np.array([c1 for c1 in range(self.C)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      if c1 != c])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lista_o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k in otras_casillas: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lista_o.append(self.NenC.ravel([n, k]))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form = '(' + self.NenC.ravel([*m]) + '&gt;-' + \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Otoria_balanceada(lista_o) + ')'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lista.append(form)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Ytoria_balanceada(lista)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Implementa la implicacion  D_{n,c} -&gt; NOT (OR_{e != c} D_{n,e})  para cada par (n, c).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4 (a lo sumo uno)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22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Para cada casilla c, no pueden coexistir dos numeros distintos n y 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95528" y="1527048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6696" y="1527048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97864" y="1527048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regla4(self):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formulas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c in range(self.C):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n in range(self.N):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for m in range(self.N):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if n != m: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formulas.append(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f'({self.NenC.ravel([n, c])}'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f'&gt;-{self.NenC.ravel([m, c])})')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Ytoria_balanceada(formulas)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Genera C * N * (N-1) implicaciones binarias. Para N=20 y C=12 son 4,560 implicaciones. Es la responsable del peor caso de SATtabla (11 horas).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Metodo visualizar(): de la Interpretacion al Dibujo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23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Traduce un diccionario booleano {letra: True/False} en el hexagrama dibujado.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Proposito: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Convertir la interpretacion boolena I devuelta por el solver en un grafico interpretable.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Proceso: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Construye los dos triangulos con matplotlib.patches.Polygon.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Mantiene un diccionario casilla_a_numeros (permite varios numeros por casilla, util para depurar).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Recorre I; para cada literal verdadero (sin '-') decodifica (n, c) con NenC.unravel.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Dibuja en la posicion correcta usando una tabla de coordenadas (centro de cada casilla).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Si una casilla tiene 2+ numeros, reduce el tamano de fuente automaticamente.</a:t>
            </a:r>
          </a:p>
        </p:txBody>
      </p:sp>
      <p:pic>
        <p:nvPicPr>
          <p:cNvPr id="16" name="Picture 15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38912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0" y="57607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Salida del visualizador para una solucion valida.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Metodos SAT 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Cinco enfoques distintos para responder la misma pregunta:
existe alguna interpretacion que satisfaga la formula?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Analisis Comparativo con Metodos SAT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25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La seleccion de metodos SAT responde a una intencion </a:t>
            </a:r>
            <a:r>
              <a:rPr sz="1300" b="1" i="0">
                <a:solidFill>
                  <a:srgbClr val="1A2C55"/>
                </a:solidFill>
                <a:latin typeface="Calibri"/>
              </a:rPr>
              <a:t>pedagogica y experimental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para evaluar cada regla del hexagrama magico: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8EA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1. SATtabla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Tabla de verdad - base conceptual exhaustiva (Logica.py).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2. SATtableaux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Descomposicion en arbol - 3 estrategias: anchura, profundidad, backtracking.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71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3. DPLL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Davis-Putnam-Logemann-Loveland - propagacion unitaria + backtracking.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11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4. WalkSAT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Busqueda local estocastica - flips probabilisticos sobre asignacion completa.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519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5. MiniSAT22 (CDCL)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Estado del arte - aprendizaje de clausulas y backjumping no-cronologico.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548640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15584"/>
            <a:ext cx="11247120" cy="63093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5888736"/>
            <a:ext cx="10917936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Validar la formalizacion del hexagrama y comprender ventajas y limitaciones de cada estrategia, aplicando los cinco SAT solvers a cada regla por separado y a la conjuncion total.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1. SATtabla (Tablas de Verdad)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26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Enumeracion exhaustiva de todas las posibles asignaciones (2^n).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Evalua la formula completa para cada combinacion.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Metodo fundamental y conceptualmente simple, implementado en Logica.py.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Completitud garantizada.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Certeza absoluta (siempre encuentra o descarta).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Ideal para didactica y para corroborar.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 O(2^n).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Inviable para problemas grandes.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Sin optimizaciones de poda.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Para el hexagrama, con 240 atomos, 2^240 ≈ 1.77 x 10^72 asignaciones: completamente impracticable.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2. SATtableaux (Tableaux Semanticos)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27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Construccion de un arbol de descomposicion segun reglas alfa y beta.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Implementadas tres estrategias: primero en anchura, primero en profundidad y backtracking.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Deteccion temprana de contradicciones por literales complementarios en una rama.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Mas eficiente que tablas en muchos casos.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Poda de ramas contradictorias.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Representacion visual intuitiva.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Completo y correcto.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 exponencial en el peor caso.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Muy sensible al orden de expansion.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Consumo significativo de memoria.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Profundidad de recursion enorme.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En el proyecto fue necesario hacer sys.setrecursionlimit(10,000,000) para que Python no abortara antes de tiempo.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3. DPLL (Davis-Putnam-Logemann-Loveland)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28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Trabaja sobre formula en FNC obtenida via Tseitin.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Busqueda con retroceso (backtracking).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Propagacion de clausulas unitarias (unit propagation).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Base teorica de practicamente todos los solvers modernos.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Inferencias deterministas.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Reduccion dramatica del espacio.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Completo y correcto.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Muy efectivo en problemas estructurados.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Retroceso cronologico (sin backjumping).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Sin aprendizaje de conflictos.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Sensible a heuristicas de seleccion.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Mas lento que CDCL en instancias industriales.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La implementacion del proyecto incluye una heuristica: ordenar las clausulas por longitud y ramificar por el primer literal de la clausula mas corta.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4. WalkSAT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29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Busqueda local estocastica sobre asignaciones COMPLETAS.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En cada paso, escoge una clausula no satisfecha y voltea un literal (greedy o random).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Balance entre exploracion y explotacion (parametro 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Extremadamente eficiente en problemas aleatorios.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Memoria constante.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Simple de implementar.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Multiples reinicios posibles.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Incompleto: no demuestra insatisfacibilidad.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Dependiente de parametros (max_flips, p).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Atrapamiento en optimos locales.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Inconsistente en problemas estructurados.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En el hexagrama, WalkSAT tarda 12+ horas en R3 y 14+ horas en R4 porque los optimos locales son muchos y las restricciones de unicidad fuerzan flips que destruyen progreso.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5. MiniSAT22 (CDCL - Estado del Arte)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30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Conflict-Driven Clause Learning: aprende clausulas a partir de cada conflicto.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Backjumping no-cronologico: salta varios niveles de decision a la vez.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Heuristica de seleccion VSIDS (Variable State Independent Decaying Sum).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Implementacion C de referencia usada via libreria python-sat (Minisat22).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Memoria de conflictos evita repetir errores.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Saltos inteligentes en el espacio de busqueda.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Heuristicas sofisticadas (watched literals, VSIDS).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Maneja millones de variables y clausulas.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Gestion de memoria mas compleja.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Codigo de implementacion no trivial.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Overhead computacional en problemas chicos.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Configuracion de parametros no obvia.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En el hexagrama, MiniSAT22 resuelve TODAS las reglas a la vez en aproximadamente 30 milisegundos.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8288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Sintesis Comparativa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31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" y="1275588"/>
            <a:ext cx="301752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825" y="1275588"/>
            <a:ext cx="201168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505" y="1275588"/>
            <a:ext cx="228600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505" y="1275588"/>
            <a:ext cx="201168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7185" y="1275588"/>
            <a:ext cx="274320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5" y="1732788"/>
            <a:ext cx="301752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17825" y="1732788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505" y="1732788"/>
            <a:ext cx="22860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505" y="1732788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27185" y="1732788"/>
            <a:ext cx="27432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5" y="2189988"/>
            <a:ext cx="301752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017825" y="2189988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505" y="2189988"/>
            <a:ext cx="22860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505" y="2189988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27185" y="2189988"/>
            <a:ext cx="27432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05" y="2647188"/>
            <a:ext cx="301752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017825" y="2647188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505" y="2647188"/>
            <a:ext cx="22860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505" y="2647188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327185" y="2647188"/>
            <a:ext cx="27432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05" y="3104388"/>
            <a:ext cx="301752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17825" y="3104388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29505" y="3104388"/>
            <a:ext cx="22860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315505" y="3104388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327185" y="3104388"/>
            <a:ext cx="27432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05" y="3561588"/>
            <a:ext cx="301752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17825" y="3561588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029505" y="3561588"/>
            <a:ext cx="22860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315505" y="3561588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327185" y="3561588"/>
            <a:ext cx="27432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Cuadro: *Con poda eficiente, **Sin garantia de terminacion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4846320"/>
            <a:ext cx="1069848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6112" y="4846320"/>
            <a:ext cx="103692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5175504"/>
            <a:ext cx="1069848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96112" y="5248656"/>
            <a:ext cx="1036929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MiniSAT22 emerge como el enfoque mas robusto al combinar busqueda sistematica completa (CDCL) con aprendizaje adaptativo de conflictos. Es 4-5 ordenes de magnitud mas rapido que cualquier metodo academico para este problema.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5" y="12390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dirty="0" err="1">
                <a:solidFill>
                  <a:srgbClr val="FFFFFF"/>
                </a:solidFill>
                <a:latin typeface="Calibri"/>
              </a:rPr>
              <a:t>Metodo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017825" y="12390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Completitud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505" y="12390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Complejidad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505" y="12390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Aprendizaje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7185" y="12390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Aplicabilidad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5" y="16962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SATtabla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825" y="16962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505" y="16962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O(2^n)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505" y="16962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7185" y="16962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Didactica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" y="21534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Tableaux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825" y="21534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505" y="21534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Exponencial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505" y="21534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27185" y="21534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Problemas pequenos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5" y="26106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17825" y="26106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505" y="26106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Exponencial*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505" y="26106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27185" y="26106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Problemas estructurados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5" y="30678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17825" y="30678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505" y="30678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Polinomial**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505" y="30678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27185" y="30678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Instancias satisfacibles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5" y="35250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MiniSAT22 (CDCL)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17825" y="35250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505" y="35250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Exponencial*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505" y="35250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27185" y="35250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Industrial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Metodologia y Analisis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Como se corrio el experimento, en que hardware
y con que protocolos de medicion.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Metodologia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33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Protocolo de Evaluacion Incremental: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943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Evaluar cada regla individualmente (R1, R2, R3, R4).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Evaluar la conjuncion total de las 4 reglas (R1 ∧ R2 ∧ R3 ∧ R4).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Para cada combinacion regla x solver se mide tiempo con %%time de Jupyter.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 el solver no termina en 24 horas, se marca como Timeout (interrumpido).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Validar el modelo encontrado con verificar_modelo(reglas, 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Hardware de Pruebas: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Maquina virtual Oracle VirtualBox.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Sistema base: Windows / Linux (segun integrante).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Python 3.x + Jupyter Notebook.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Librerias: numpy, matplotlib, pycosat, python-sat.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sys.setrecursionlimit(10,000,000) para tableaux y DPLL.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914400"/>
            <a:ext cx="50292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914400"/>
            <a:ext cx="4700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 Binario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243584"/>
            <a:ext cx="5029200" cy="149961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9712" y="1316736"/>
            <a:ext cx="4700016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Cada ejecucion produce uno de dos posibles estados:
   (1) Exito  -  el solver termina y devuelve modelo o UNSAT.
   (2) Interrupcion (Timeout)  -  pasa el limite de 24h.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017520"/>
            <a:ext cx="50292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9712" y="3017520"/>
            <a:ext cx="4700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Limite Temporal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346704"/>
            <a:ext cx="5029200" cy="305409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9712" y="3419856"/>
            <a:ext cx="4700016" cy="294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Tiempo maximo permitido por ejecucion:</a:t>
            </a:r>
          </a:p>
          <a:p>
            <a:pPr algn="l">
              <a:lnSpc>
                <a:spcPct val="115000"/>
              </a:lnSpc>
            </a:pPr>
            <a:endParaRPr sz="1200" b="0" i="0">
              <a:solidFill>
                <a:srgbClr val="0F1E3F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      24 horas (un dia completo)</a:t>
            </a:r>
          </a:p>
          <a:p>
            <a:pPr algn="l">
              <a:lnSpc>
                <a:spcPct val="115000"/>
              </a:lnSpc>
            </a:pPr>
            <a:endParaRPr sz="1200" b="0" i="0">
              <a:solidFill>
                <a:srgbClr val="0F1E3F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Justificacion: algunas reglas (R3, R4) generan miles de clausulas tras Tseitin. Dar mas tiempo no ayuda: o el solver gana en horas, o no gana en absoluto.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1. SATtabla - Tablas de Verdad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34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Enumeracion exhaustiva.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Espacio: 2^240 ≈ 10^72.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Complejidad: O(2^n).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11 h 06 min (Regla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Estado: Interrumpido en conjuncion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Simple, completo, ideal para entender el problema.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Inviable para problemas con muchos atomos.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solucion del hexagrama validada manualmente.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2. SATtableaux - Tableaux Semanticos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35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Descomposicion en arbol con reglas alfa/beta.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Tres estrategias: anchura, profundidad, backtracking.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Poda de ramas contradictorias.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10 h 32 min (profundidad, todas las reglas)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Estado: 6 h 22 min con backtracking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Deteccion temprana de conflictos.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 exponencial persiste.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resultado obtenido para una regla individual.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3. DPLL - Primer Exito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36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Propagacion unitaria (unit propagation).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Eliminacion de literales puros (implicita).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Backtracking cronologico con heuristica de clausula corta.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Segundos (con Tseitin + UP)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Estado: Completado para reglas individuales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Reduce dramaticamente el espacio de busqueda.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Backtracking cronologico sin aprendizaje.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modelo valido encontrado por DPLL.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4. WalkSAT - Busqueda Estocastica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37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Busqueda local sobre asignaciones completas.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Movimientos aleatorios y greedy.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Multiples reinicios.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14 h 43 min (Regla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Estado: Interrumpido / Optimos locales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Excelente en instancias aleatorias.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Incompleto, no garantiza convergencia.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asignacion parcial encontrada en R6.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5. MiniSAT22 - Estado del 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38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Aprendizaje de clausulas (CDCL).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Backjumping no cronologico.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Heuristica VSIDS y watched literals.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≈ 30 milisegundos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Estado: Completado para todas las reglas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Memoria de conflictos evita repeticiones.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El mas eficiente: ordenes de magnitud por debajo de DPLL.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solucion optima en milisegundos.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Analisis Comparativo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Las cifras puestas juntas:
que solver gana, que solver no termina, y por 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Tabla Comparativa de Tiempos de Ejecucion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40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37744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SAT Solver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188720"/>
            <a:ext cx="118872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18872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188720"/>
            <a:ext cx="91440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11887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188720"/>
            <a:ext cx="128016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18872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137160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18872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188720"/>
            <a:ext cx="228600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0" y="11887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Conjuncion (R1..R4)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188720"/>
            <a:ext cx="146304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11887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Estado 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60020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160020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SATtabla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60020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0" y="160020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0.11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160020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0" y="16002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60020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160020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10.7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60020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1600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11 h 06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160020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0" y="16002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Timeout (&gt;24 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160020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0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Interrumpido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011680"/>
            <a:ext cx="23774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20116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Tableaux - anchura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2011680"/>
            <a:ext cx="118872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0" y="201168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011680"/>
            <a:ext cx="9144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31920" y="20116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 min 12s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2011680"/>
            <a:ext cx="128016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46320" y="201168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011680"/>
            <a:ext cx="13716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201168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2011680"/>
            <a:ext cx="22860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20116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~ 0.09 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2011680"/>
            <a:ext cx="14630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84080" y="2011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077A5"/>
                </a:solidFill>
                <a:latin typeface="Calibri"/>
              </a:rPr>
              <a:t>Parcial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42316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24231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Tableaux - profundidad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42316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0" y="242316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2.75 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242316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31920" y="24231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36 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242316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46320" y="24231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242316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26480" y="24231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0" y="242316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98080" y="24231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10 h 42 min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84080" y="242316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84080" y="24231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2834640"/>
            <a:ext cx="23774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" y="28346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Tableaux - backtracking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2834640"/>
            <a:ext cx="118872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43200" y="283464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2.43 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31920" y="2834640"/>
            <a:ext cx="9144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31920" y="28346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35 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46320" y="2834640"/>
            <a:ext cx="128016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4632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2834640"/>
            <a:ext cx="13716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26480" y="283464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80" y="2834640"/>
            <a:ext cx="22860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80" y="28346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6 h 22 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84080" y="2834640"/>
            <a:ext cx="14630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784080" y="28346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324612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3246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0" y="324612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43200" y="324612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segundos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31920" y="324612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931920" y="32461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ms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46320" y="324612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846320" y="324612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segundos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80" y="324612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26480" y="324612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segundos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0" y="324612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498080" y="32461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segundos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84080" y="324612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784080" y="32461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3657600"/>
            <a:ext cx="23774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65760" y="365760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0" y="3657600"/>
            <a:ext cx="118872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743200" y="365760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2 h 01 min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931920" y="3657600"/>
            <a:ext cx="9144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931920" y="3657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0.43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46320" y="3657600"/>
            <a:ext cx="128016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846320" y="365760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12 h 25 min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26480" y="3657600"/>
            <a:ext cx="13716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26480" y="36576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14 h 43 min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98080" y="3657600"/>
            <a:ext cx="22860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498080" y="3657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0.09 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3657600"/>
            <a:ext cx="14630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36576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077A5"/>
                </a:solidFill>
                <a:latin typeface="Calibri"/>
              </a:rPr>
              <a:t>Parcial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06908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0690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MiniSAT22 (CDCL)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ms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931920" y="406908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931920" y="40690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ms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46320" y="406908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846320" y="406908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ms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26480" y="406908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126480" y="406908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ms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80" y="406908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80" y="40690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~ 30 ms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784080" y="406908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784080" y="40690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Cuadro: tiempos medidos con %%time de Jupyter sobre cada celda. ms = decenas de milisegundos.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65760" y="5120640"/>
            <a:ext cx="114300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30352" y="5120640"/>
            <a:ext cx="111008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Diferencia Critica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65760" y="5449824"/>
            <a:ext cx="1143000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30352" y="5522976"/>
            <a:ext cx="1110081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3 a 5 ordenes de magnitud entre los metodos exitosos (DPLL, MiniSAT22) y los interrumpidos por timeout (SATtabla, WalkSAT). La eleccion del solver determina si el problema es resoluble en segundos o intratable.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Analisis de Convergencia Incremental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41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Umbrales de complejidad observados: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82880" cy="502920"/>
          </a:xfrm>
          <a:prstGeom prst="rect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SATtabla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554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Falla con ≥ 4 reglas combinadas (R4 individual ya toma 11h)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182880" cy="50292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1945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Tableaux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9456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Falla con la conjuncion total (10h+ con profundidad)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182880" cy="50292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3464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Exito en todas las combinaciones (1-4)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182880" cy="50292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4747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4747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Falla con R3 y R4 individuales (atrapado en optimos locales)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182880" cy="50292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MiniSAT22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1148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Exito en todas las combinaciones, en decenas de milisegundos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502920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Conclusion Experimental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58384"/>
            <a:ext cx="1124712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5431536"/>
            <a:ext cx="109179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Solo los solucionadores SISTEMATICOS AVANZADOS (DPLL con Tseitin + UP, y MiniSAT22 con CDCL) resuelven el problema completo en hardware estandar dentro del limite de 24 horas. Los demas o se atascan en explosion combinatoria (tabla, tableaux) o en optimos locales (WalkSAT).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Determinacion de Satisfacibilidad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42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Clasificacion logica de la formula del hexagrama: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11247120" cy="548640"/>
          </a:xfrm>
          <a:prstGeom prst="roundRect">
            <a:avLst/>
          </a:prstGeom>
          <a:solidFill>
            <a:srgbClr val="E4EAF5"/>
          </a:solidFill>
          <a:ln w="1524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37160" cy="548640"/>
          </a:xfrm>
          <a:prstGeom prst="rect">
            <a:avLst/>
          </a:prstGeom>
          <a:solidFill>
            <a:srgbClr val="8EA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5544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Tautologia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F1E3F"/>
                </a:solidFill>
                <a:latin typeface="Calibri"/>
              </a:rPr>
              <a:t>Verdadera en TODA interpretacion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11247120" cy="548640"/>
          </a:xfrm>
          <a:prstGeom prst="roundRect">
            <a:avLst/>
          </a:prstGeom>
          <a:solidFill>
            <a:srgbClr val="E4EAF5"/>
          </a:solidFill>
          <a:ln w="1524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137160" cy="54864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2402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Contradiccion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2402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F1E3F"/>
                </a:solidFill>
                <a:latin typeface="Calibri"/>
              </a:rPr>
              <a:t>Falsa en TODA interpretacion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11247120" cy="548640"/>
          </a:xfrm>
          <a:prstGeom prst="roundRect">
            <a:avLst/>
          </a:prstGeom>
          <a:solidFill>
            <a:srgbClr val="E4EAF5"/>
          </a:solidFill>
          <a:ln w="15240">
            <a:solidFill>
              <a:srgbClr val="1A2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137160" cy="54864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9260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Contingente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9260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F1E3F"/>
                </a:solidFill>
                <a:latin typeface="Calibri"/>
              </a:rPr>
              <a:t>Verdadera en al menos UNA interpretacion (satisfacible)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Evidencia experimental: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DPLL y MiniSAT22 encontraron MODELOS validos (asignaciones concretas que satisfacen las 4 reglas).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Por lo tanto la formula NO es contradiccion.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Existen tambien interpretaciones que la falsifican (cualquier asignacion aleatoria casi seguro falla).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Por lo tanto la formula NO es tautologia.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548640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 Formal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15584"/>
            <a:ext cx="11247120" cy="67665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5888736"/>
            <a:ext cx="109179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La formula del hexagrama magico es SATISFACIBLE (contingente). Existen exactamente 80 configuraciones esencialmente distintas (modulo rotaciones y reflexiones).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Discusion y 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Que aprendimos modelando un puzzle de 12 casillas
y lanzandolo contra cinco solvers distintos.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Conclusiones Principales 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44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1. Formalizacion exitosa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240 variables proposicionales + 4 reglas formales capturan exhaustivamente el hexagrama.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Sin ambiguedades, sin configuraciones invalidas.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Un solo descriptor binario D_{n,c} es suficiente para representar todo el problema.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2. Implementacion computacional validada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Python con clases Formula, Letra, Negacion, Binario, Descriptor, Numero.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Metodologia incremental: regla por regla y luego la conjuncion total.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Visualizador grafico coherente con el diccionario booleano del solver.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3. Diferencias cualitativas entre paradigmas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Metodos exhaustivos (tabla, tableaux): impracticables (&gt;15h en la conjuncion total).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Metodos estocasticos (WalkSAT): incompletos, atrapados en optimos locales.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Metodos sistematicos avanzados (DPLL, MiniSAT22): unicos exitosos en el limite de tiempo.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Conclusiones Principales 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45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4. Evolucion algoritmica de SAT (1950 - 1990s)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554480"/>
            <a:ext cx="1828800" cy="502920"/>
          </a:xfrm>
          <a:prstGeom prst="rect">
            <a:avLst/>
          </a:prstGeom>
          <a:solidFill>
            <a:srgbClr val="1A2C55"/>
          </a:solidFill>
          <a:ln w="508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15544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54480"/>
            <a:ext cx="3657600" cy="502920"/>
          </a:xfrm>
          <a:prstGeom prst="rect">
            <a:avLst/>
          </a:prstGeom>
          <a:solidFill>
            <a:srgbClr val="1A2C55"/>
          </a:solidFill>
          <a:ln w="508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15544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Algoritmo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554480"/>
            <a:ext cx="4114800" cy="502920"/>
          </a:xfrm>
          <a:prstGeom prst="rect">
            <a:avLst/>
          </a:prstGeom>
          <a:solidFill>
            <a:srgbClr val="1A2C55"/>
          </a:solidFill>
          <a:ln w="508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Aporte clave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057400"/>
            <a:ext cx="1828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20574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1950s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057400"/>
            <a:ext cx="36576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20574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Tablas de Verdad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57400"/>
            <a:ext cx="4114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205740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Enumeracion exhaustiva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560320"/>
            <a:ext cx="1828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25603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1960s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560320"/>
            <a:ext cx="36576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0" y="25603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Tableaux Semanticos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560320"/>
            <a:ext cx="4114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256032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Descomposicion sistematica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063240"/>
            <a:ext cx="1828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30632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063240"/>
            <a:ext cx="36576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0" y="30632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063240"/>
            <a:ext cx="4114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30632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Propagacion unitaria (breakthrough)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566160"/>
            <a:ext cx="1828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1990s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566160"/>
            <a:ext cx="36576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356616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566160"/>
            <a:ext cx="4114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356616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Busqueda local estocastica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4069080"/>
            <a:ext cx="1828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1600" y="40690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1990s+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4069080"/>
            <a:ext cx="36576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0" y="40690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CDCL / MiniSAT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4069080"/>
            <a:ext cx="4114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0" y="406908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Aprendizaje de clausulas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Transformacion: intratable → tratable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Propagacion unitaria (DPLL): reduccion exponencial del espacio de busqueda.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Aprendizaje de conflictos (CDCL): "memoria" adaptativa que no repite errores.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Mas de 40 anos de innovacion algoritmica entre el papel y MiniSAT22.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Conclusiones Principales 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46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5. Principios fundamentales ilustrados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Formalizacion = fundamento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Una traduccion precisa de la descripcion informal a logica proposicional es la base de todo lo que sigue.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Complejidad inherente ≠ complejidad algoritmica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12! = 479,001,600 permutaciones; las heuristicas inteligentes encuentran la solucion sin enumerar.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Trade-offs: completitud vs eficiencia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WalkSAT renuncia a completitud por velocidad; MiniSAT22 logra ambas con aprendizaje de conflictos.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Eleccion critica: el algoritmo determina la tractabilidad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El mismo problema es trivial (ms) o impracticable (&gt;24h) segun el solver elegido.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553212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Implicacion Practica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61304"/>
            <a:ext cx="11247120" cy="63093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5934456"/>
            <a:ext cx="10917936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Problemas de planificacion, verificacion de hardware, configuracion de redes y diseno asistido por computador frecuentemente se reducen a SAT. La eleccion del solver determina si son resolubles en segundos o intratables.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Trabajos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47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Direcciones prometedoras a partir de este trabajo: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7335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Generalizacion a estrellas mas grandes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4767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Estrella magica con m &gt; 6. Las variables crecen como m * (numero de casillas), y el numero de lineas tambien.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5059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Optimizacion de codificaciones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2491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Variables auxiliares para sumas (codificaciones cardinales eficientes). Comparar order encoding vs direct encoding.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278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Analisis de complejidad formal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0215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Estudiar si el problema generalizado es NP-completo o pertenece a clases mas refinadas (P #SAT).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0507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Paralelizacion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7939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Distribuir el espacio de busqueda entre multiples nucleos / maquinas. SAT paralelo (Plingeling, etc.).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8231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Variantes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566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Semi-magicos, diabolicos, pandiagonales. Hexagramas con sumas adicionales en diametros.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55778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5955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Integracion con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3387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Machine learning para predecir buenas heuristicas de seleccion variable (aprender VSIDS).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Sintesis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48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Demostracion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9509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libri"/>
              </a:rPr>
              <a:t>La logica proposicional, pese a su aparente simplicidad sintactica, posee EXPRESIVIDAD SUFICIENTE para codificar problemas combinatorios complejos como el hexagrama magico, y los SAT-solvers modernos los resuelven eficazmente.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Validacion exitosa: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112471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Formalizacion matematica rigurosa (240 atomos + 4 reglas).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Implementacion computacional correcta en Python (clases reutilizables).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Evaluacion experimental exhaustiva (5 solvers, regla por regla y conjuncion total).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Formula SATISFACIBLE (80 configuraciones fundamentales).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Solo DPLL y MiniSAT22 resuelven el problema completo en hardware estandar dentro de 24h.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5486400"/>
            <a:ext cx="109179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Contribucion del Proyecto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47120" cy="67665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5888736"/>
            <a:ext cx="109179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Combinar comprension teorica (logica + computacion + complejidad) con practica ingenieril (modelado, codificacion eficiente, comparacion experimental rigurosa).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Agradecimientos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Las personas e instituciones sin las cuales
este trabajo no habria sido posible.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49 / 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Agradecimientos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50 /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1A2C55"/>
                </a:solidFill>
                <a:latin typeface="Calibri"/>
              </a:rPr>
              <a:t>Agradecemos especialmente al profesor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F1E3F"/>
                </a:solidFill>
                <a:latin typeface="Calibri"/>
              </a:rPr>
              <a:t>Daniel Alfonso Bojaca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293F6C"/>
                </a:solidFill>
                <a:latin typeface="Calibri"/>
              </a:rPr>
              <a:t>por su invaluable orientacion durante el desarrollo de este proyecto</a:t>
            </a:r>
          </a:p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293F6C"/>
                </a:solidFill>
                <a:latin typeface="Calibri"/>
              </a:rPr>
              <a:t>en el curso de Logica para Ciencias de la Computacion.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Tambien agradecemos: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·  A la comunidad de Matematicas Aplicadas y Ciencias de la Computacion (MACC).</a:t>
            </a:r>
          </a:p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·  A los autores de PySAT y MiniSAT22 por proveer un solver de estado del arte accesible.</a:t>
            </a:r>
          </a:p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·  A los companeros del curso con quienes discutimos estrategias y representaciones.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Gracias por su atencion!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1">
                <a:solidFill>
                  <a:srgbClr val="B7C4E0"/>
                </a:solidFill>
                <a:latin typeface="Calibri"/>
              </a:rPr>
              <a:t>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7C4E0"/>
                </a:solidFill>
                <a:latin typeface="Calibri"/>
              </a:rPr>
              <a:t>Contacto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samuel.galindo@urosario.edu.co</a:t>
            </a:r>
          </a:p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john.valbuena@urosario.edu.co</a:t>
            </a:r>
          </a:p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alejandro.jimenez@urosario.edu.co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Logica para Ciencias de la Computacion  ·  MACC  ·  2026-01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6631</Words>
  <Application>Microsoft Office PowerPoint</Application>
  <PresentationFormat>Widescreen</PresentationFormat>
  <Paragraphs>878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Elfiru 19</cp:lastModifiedBy>
  <cp:revision>2</cp:revision>
  <dcterms:created xsi:type="dcterms:W3CDTF">2013-01-27T09:14:16Z</dcterms:created>
  <dcterms:modified xsi:type="dcterms:W3CDTF">2026-05-21T02:45:48Z</dcterms:modified>
  <cp:category/>
</cp:coreProperties>
</file>