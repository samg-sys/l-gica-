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640080"/>
            <a:ext cx="10058400" cy="1554480"/>
          </a:xfrm>
          <a:prstGeom prst="roundRect">
            <a:avLst/>
          </a:prstGeom>
          <a:solidFill>
            <a:srgbClr val="D2DCEE"/>
          </a:solidFill>
          <a:ln w="1270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0F1E3F"/>
                </a:solidFill>
                <a:latin typeface="Calibri"/>
              </a:rPr>
              <a:t>Hexagrama Magico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Formalizacion mediante Logica Proposicional y verificacion SAT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3D5586"/>
                </a:solidFill>
                <a:latin typeface="Calibri"/>
              </a:rPr>
              <a:t>SATtabla  ·  SATtableaux  ·  DPLL  ·  WalkSAT  ·  MiniSAT22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E3F"/>
                </a:solidFill>
                <a:latin typeface="Calibri"/>
              </a:rPr>
              <a:t>Samuel Alejandro Galindo     John Sebastian Valbuena   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93F6C"/>
                </a:solidFill>
                <a:latin typeface="Calibri"/>
              </a:rPr>
              <a:t>Logica para Ciencias de la Computacion</a:t>
            </a:r>
          </a:p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93F6C"/>
                </a:solidFill>
                <a:latin typeface="Calibri"/>
              </a:rPr>
              <a:t>Matematicas Aplicadas y Ciencias de la Computacion - MACC</a:t>
            </a:r>
          </a:p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93F6C"/>
                </a:solidFill>
                <a:latin typeface="Calibri"/>
              </a:rPr>
              <a:t>Escuela de Ingenieria, Ciencia y Tecnologia</a:t>
            </a:r>
          </a:p>
        </p:txBody>
      </p:sp>
      <p:pic>
        <p:nvPicPr>
          <p:cNvPr id="10" name="Picture 9" descr="_hexagrama_fig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160520"/>
            <a:ext cx="237744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Profesor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Daniel Alfonso Bojaca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Fecha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5720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Mayo de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400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Bogota, Colombia  ·  Periodo 2026-01  ·  Codigo 11310035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Oval 10"/>
          <p:cNvSpPr/>
          <p:nvPr/>
        </p:nvSpPr>
        <p:spPr>
          <a:xfrm>
            <a:off x="1645920" y="137160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37160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Bienvenida e Introduccion al Problema</a:t>
            </a:r>
          </a:p>
        </p:txBody>
      </p:sp>
      <p:sp>
        <p:nvSpPr>
          <p:cNvPr id="14" name="Oval 13"/>
          <p:cNvSpPr/>
          <p:nvPr/>
        </p:nvSpPr>
        <p:spPr>
          <a:xfrm>
            <a:off x="1645920" y="187452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1874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8745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Sistema de Representacion</a:t>
            </a:r>
          </a:p>
        </p:txBody>
      </p:sp>
      <p:sp>
        <p:nvSpPr>
          <p:cNvPr id="17" name="Oval 16"/>
          <p:cNvSpPr/>
          <p:nvPr/>
        </p:nvSpPr>
        <p:spPr>
          <a:xfrm>
            <a:off x="1645920" y="237744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2377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3774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Reglas del Problema</a:t>
            </a:r>
          </a:p>
        </p:txBody>
      </p:sp>
      <p:sp>
        <p:nvSpPr>
          <p:cNvPr id="20" name="Oval 19"/>
          <p:cNvSpPr/>
          <p:nvPr/>
        </p:nvSpPr>
        <p:spPr>
          <a:xfrm>
            <a:off x="1645920" y="288036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88036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Arquitectura e Implementacion Computacional</a:t>
            </a:r>
          </a:p>
        </p:txBody>
      </p:sp>
      <p:sp>
        <p:nvSpPr>
          <p:cNvPr id="23" name="Oval 22"/>
          <p:cNvSpPr/>
          <p:nvPr/>
        </p:nvSpPr>
        <p:spPr>
          <a:xfrm>
            <a:off x="1645920" y="338328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3383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3832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Metodos SAT Solver</a:t>
            </a:r>
          </a:p>
        </p:txBody>
      </p:sp>
      <p:sp>
        <p:nvSpPr>
          <p:cNvPr id="26" name="Oval 25"/>
          <p:cNvSpPr/>
          <p:nvPr/>
        </p:nvSpPr>
        <p:spPr>
          <a:xfrm>
            <a:off x="1645920" y="388620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3886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88620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Metodologia y Analisis Experimental</a:t>
            </a:r>
          </a:p>
        </p:txBody>
      </p:sp>
      <p:sp>
        <p:nvSpPr>
          <p:cNvPr id="29" name="Oval 28"/>
          <p:cNvSpPr/>
          <p:nvPr/>
        </p:nvSpPr>
        <p:spPr>
          <a:xfrm>
            <a:off x="1645920" y="438912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4389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3891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Resultados y Analisis Comparativo</a:t>
            </a:r>
          </a:p>
        </p:txBody>
      </p:sp>
      <p:sp>
        <p:nvSpPr>
          <p:cNvPr id="32" name="Oval 31"/>
          <p:cNvSpPr/>
          <p:nvPr/>
        </p:nvSpPr>
        <p:spPr>
          <a:xfrm>
            <a:off x="1645920" y="489204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4892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48920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Discusion y Conclusiones</a:t>
            </a:r>
          </a:p>
        </p:txBody>
      </p:sp>
      <p:sp>
        <p:nvSpPr>
          <p:cNvPr id="35" name="Oval 34"/>
          <p:cNvSpPr/>
          <p:nvPr/>
        </p:nvSpPr>
        <p:spPr>
          <a:xfrm>
            <a:off x="1645920" y="539496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20" y="5394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539496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E3F"/>
                </a:solidFill>
                <a:latin typeface="Calibri"/>
              </a:rPr>
              <a:t>Agradecimientos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1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Introduccion al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Que es un hexagrama, que lo vuelve magico y por que
merece ser modelado con logica proposicional.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3 / 53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Que es un Hexagrama?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La figura geometrica: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67665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Es una estrella de seis puntas: una de las figuras geometricas mas antiguas y reconocibles.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Se forma al superponer DOS triangulos equilateros iguales, uno apuntando hacia arriba y otro hacia abajo.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En geometria es el poligono estrellado { 6 / 2 }: 6 vertices que se unen saltando de 2 en 2.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Al cruzarse los triangulos aparece un hexagono regular en el centro y 6 puntas triangulares alrededor.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Tambien se le conoce como Estrella de David o Sello de Salomon, con fuerte carga simbolica en varias culturas.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00600"/>
            <a:ext cx="676656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800600"/>
            <a:ext cx="6437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Hexagrama  vs.  Hexagrama magico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29784"/>
            <a:ext cx="6766560" cy="117957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202936"/>
            <a:ext cx="6437376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Hexagrama = la figura (la estrella de 6 puntas).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Hexagrama magico = colocar los numeros 1..12 en sus 12 casillas de modo que las 6 lineas rectas sumen todas lo mismo (M = 26).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Eso ultimo es lo que formalizamos y resolvemos en este proyecto.</a:t>
            </a:r>
          </a:p>
        </p:txBody>
      </p:sp>
      <p:pic>
        <p:nvPicPr>
          <p:cNvPr id="17" name="Picture 16" descr="_hexagrama_fig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280160"/>
            <a:ext cx="4206240" cy="4206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79" y="55321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Las 12 casillas del hexagrama: 6 en las puntas y 6 en los cruces interiores. Cada casilla pertenece exactamente a dos lineas rectas.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El Hexagrama Magico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5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Definicion: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6583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400" b="0" i="0">
                <a:solidFill>
                  <a:srgbClr val="0F1E3F"/>
                </a:solidFill>
                <a:latin typeface="Calibri"/>
              </a:rPr>
              <a:t>Estrella de seis puntas (hexagrama), formada por DOS triangulos equilateros superpuestos.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400" b="0" i="0">
                <a:solidFill>
                  <a:srgbClr val="0F1E3F"/>
                </a:solidFill>
                <a:latin typeface="Calibri"/>
              </a:rPr>
              <a:t>Es la estrella magica mas pequena que existe: en notacion star polygon es m | p con m = 6 y p = 2.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400" b="0" i="0">
                <a:solidFill>
                  <a:srgbClr val="0F1E3F"/>
                </a:solidFill>
                <a:latin typeface="Calibri"/>
              </a:rPr>
              <a:t>Consta de 12 casillas y 6 lineas rectas, cada linea con 4 casillas.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400" b="0" i="0">
                <a:solidFill>
                  <a:srgbClr val="0F1E3F"/>
                </a:solidFill>
                <a:latin typeface="Calibri"/>
              </a:rPr>
              <a:t>Se colocan los numeros 1, 2, ..., 12 sin repetir, uno por casilla.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400" b="0" i="0">
                <a:solidFill>
                  <a:srgbClr val="0F1E3F"/>
                </a:solidFill>
                <a:latin typeface="Calibri"/>
              </a:rPr>
              <a:t>La suma de los cuatro numeros de cada linea debe ser igual a una constante magica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Constante magica: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2C55"/>
                </a:solidFill>
                <a:latin typeface="Cambria"/>
              </a:rPr>
              <a:t>M(m) = 4m + 2          </a:t>
            </a:r>
            <a:r>
              <a:rPr sz="1600" b="0" i="1">
                <a:solidFill>
                  <a:srgbClr val="293F6C"/>
                </a:solidFill>
                <a:latin typeface="Cambria"/>
              </a:rPr>
              <a:t>→  M(6) = 4(6) + 2 = 26</a:t>
            </a:r>
          </a:p>
        </p:txBody>
      </p:sp>
      <p:pic>
        <p:nvPicPr>
          <p:cNvPr id="15" name="Picture 14" descr="_hexagrama_fig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97280"/>
            <a:ext cx="4389120" cy="4389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0" y="5532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Figura: Hexagrama con M = 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Anatomia del Hexagrama: las 6 Lineas Rectas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6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2C55"/>
                </a:solidFill>
                <a:latin typeface="Calibri"/>
              </a:rPr>
              <a:t>Cada linea recta es un subconjunto de 4 casillas (de las 12 totales):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463040"/>
            <a:ext cx="6949440" cy="50292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6304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1A2C55"/>
                </a:solidFill>
                <a:latin typeface="Cambria"/>
              </a:rPr>
              <a:t>l₁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46304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onsolas"/>
              </a:rPr>
              <a:t>{ 1, 3, 6, 8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46304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Triangulo superior - lado izquierdo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29968"/>
            <a:ext cx="6949440" cy="50292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29968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1A2C55"/>
                </a:solidFill>
                <a:latin typeface="Cambria"/>
              </a:rPr>
              <a:t>l₂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029968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onsolas"/>
              </a:rPr>
              <a:t>{ 1, 4, 7, 11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02996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Triangulo superior - lado derecho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96896"/>
            <a:ext cx="6949440" cy="50292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596896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1A2C55"/>
                </a:solidFill>
                <a:latin typeface="Cambria"/>
              </a:rPr>
              <a:t>l₃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596896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onsolas"/>
              </a:rPr>
              <a:t>{ 8, 9, 10, 11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596896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Triangulo superior - 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63824"/>
            <a:ext cx="6949440" cy="50292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63824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1A2C55"/>
                </a:solidFill>
                <a:latin typeface="Cambria"/>
              </a:rPr>
              <a:t>l₄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163824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onsolas"/>
              </a:rPr>
              <a:t>{ 2, 3, 4, 5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163824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Triangulo inferior - base superior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30752"/>
            <a:ext cx="6949440" cy="50292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30752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1A2C55"/>
                </a:solidFill>
                <a:latin typeface="Cambria"/>
              </a:rPr>
              <a:t>l₅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73075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onsolas"/>
              </a:rPr>
              <a:t>{ 2, 6, 9, 12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73075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Triangulo inferior - lado izquierdo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97680"/>
            <a:ext cx="6949440" cy="50292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9768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1A2C55"/>
                </a:solidFill>
                <a:latin typeface="Cambria"/>
              </a:rPr>
              <a:t>l₆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29768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onsolas"/>
              </a:rPr>
              <a:t>{ 5, 7, 10, 12 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29768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Triangulo inferior - lado derecho</a:t>
            </a:r>
          </a:p>
        </p:txBody>
      </p:sp>
      <p:pic>
        <p:nvPicPr>
          <p:cNvPr id="36" name="Picture 35" descr="_hexagrama_fig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280160"/>
            <a:ext cx="4023360" cy="40233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680960" y="53492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Numeracion de casillas del proyecto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21208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2C55"/>
                </a:solidFill>
                <a:latin typeface="Calibri"/>
              </a:rPr>
              <a:t>Observacion: </a:t>
            </a:r>
            <a:r>
              <a:rPr sz="1200" b="0" i="1">
                <a:solidFill>
                  <a:srgbClr val="0F1E3F"/>
                </a:solidFill>
                <a:latin typeface="Calibri"/>
              </a:rPr>
              <a:t>la casilla central no existe en el hexagrama; las casillas 6 y 7 son los cruces interiores. Cada casilla pertenece exactamente a dos lineas rectas.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Por que es un Problema 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7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2C55"/>
                </a:solidFill>
                <a:latin typeface="Calibri"/>
              </a:rPr>
              <a:t>Un problema combinatorio chico en numeros pero denso en restricciones: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3657600" cy="4114800"/>
          </a:xfrm>
          <a:prstGeom prst="roundRect">
            <a:avLst/>
          </a:prstGeom>
          <a:solidFill>
            <a:srgbClr val="E4EAF5"/>
          </a:solidFill>
          <a:ln w="889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A2C55"/>
                </a:solidFill>
                <a:latin typeface="Calibri"/>
              </a:rPr>
              <a:t>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3D5586"/>
                </a:solidFill>
                <a:latin typeface="Calibri"/>
              </a:rPr>
              <a:t>configuraciones esencialmente distintas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Aunque parece un puzzle simple, existen exactamente 80 hexagramas magicos distintos modulo simetrias.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554480"/>
            <a:ext cx="3657600" cy="4114800"/>
          </a:xfrm>
          <a:prstGeom prst="roundRect">
            <a:avLst/>
          </a:prstGeom>
          <a:solidFill>
            <a:srgbClr val="E4EAF5"/>
          </a:solidFill>
          <a:ln w="889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7373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A2C55"/>
                </a:solidFill>
                <a:latin typeface="Calibri"/>
              </a:rPr>
              <a:t>12!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108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3D5586"/>
                </a:solidFill>
                <a:latin typeface="Calibri"/>
              </a:rPr>
              <a:t>ordenes posibles sin restricciones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5760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12! = 479,001,600 maneras de colocar 12 numeros. Solo una fraccion infima cumple las 4 restricciones.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554480"/>
            <a:ext cx="3657600" cy="4114800"/>
          </a:xfrm>
          <a:prstGeom prst="roundRect">
            <a:avLst/>
          </a:prstGeom>
          <a:solidFill>
            <a:srgbClr val="E4EAF5"/>
          </a:solidFill>
          <a:ln w="889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7373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A2C55"/>
                </a:solidFill>
                <a:latin typeface="Calibri"/>
              </a:rPr>
              <a:t>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08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3D5586"/>
                </a:solidFill>
                <a:latin typeface="Calibri"/>
              </a:rPr>
              <a:t>variables proposicionales en nuestro modelo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65760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Con un descriptor binario D_{n,c} y dominios extendidos cubrimos toda la combinatoria.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1A2C55"/>
                </a:solidFill>
                <a:latin typeface="Calibri"/>
              </a:rPr>
              <a:t>Objetivo: codificar las restricciones como formula proposicional y probar satisfacibilidad con cinco SAT-solvers.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2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Sistema de Representacion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Un unico descriptor binario y la codificacion de
cada par (numero, casilla) como una letra proposicional.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8 / 53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Variables Proposicionales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9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Predicado: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2C55"/>
                </a:solidFill>
                <a:latin typeface="Calibri"/>
              </a:rPr>
              <a:t>D</a:t>
            </a:r>
            <a:r>
              <a:rPr sz="2200" b="1" i="1">
                <a:solidFill>
                  <a:srgbClr val="1A2C55"/>
                </a:solidFill>
                <a:latin typeface="Calibri"/>
              </a:rPr>
              <a:t>n,c</a:t>
            </a:r>
            <a:r>
              <a:rPr sz="2200" b="0" i="0">
                <a:solidFill>
                  <a:srgbClr val="0F1E3F"/>
                </a:solidFill>
                <a:latin typeface="Calibri"/>
              </a:rPr>
              <a:t>   :   </a:t>
            </a:r>
            <a:r>
              <a:rPr sz="1800" b="0" i="1">
                <a:solidFill>
                  <a:srgbClr val="0F1E3F"/>
                </a:solidFill>
                <a:latin typeface="Calibri"/>
              </a:rPr>
              <a:t>"El numero </a:t>
            </a:r>
            <a:r>
              <a:rPr sz="1800" b="1" i="1">
                <a:solidFill>
                  <a:srgbClr val="293F6C"/>
                </a:solidFill>
                <a:latin typeface="Calibri"/>
              </a:rPr>
              <a:t>n</a:t>
            </a:r>
            <a:r>
              <a:rPr sz="1800" b="0" i="1">
                <a:solidFill>
                  <a:srgbClr val="0F1E3F"/>
                </a:solidFill>
                <a:latin typeface="Calibri"/>
              </a:rPr>
              <a:t> se encuentra en la casilla </a:t>
            </a:r>
            <a:r>
              <a:rPr sz="1800" b="1" i="1">
                <a:solidFill>
                  <a:srgbClr val="293F6C"/>
                </a:solidFill>
                <a:latin typeface="Calibri"/>
              </a:rPr>
              <a:t>c</a:t>
            </a:r>
            <a:r>
              <a:rPr sz="1800" b="0" i="1">
                <a:solidFill>
                  <a:srgbClr val="0F1E3F"/>
                </a:solidFill>
                <a:latin typeface="Calibri"/>
              </a:rPr>
              <a:t>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Conjuntos: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6324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N = { 1, 2, ..., 20 }  (numeros)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C = { 1, 2, ..., 12 }  (casillas)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Lineas = { l₁, ..., l₆ }  (6 lineas rectas)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51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Cardinalidad: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108960"/>
            <a:ext cx="3657600" cy="14630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154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2C55"/>
                </a:solidFill>
                <a:latin typeface="Cambria"/>
              </a:rPr>
              <a:t>|N|  ·  |C|  =  20 ·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56616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0F1E3F"/>
                </a:solidFill>
                <a:latin typeface="Calibri"/>
              </a:rPr>
              <a:t>240 atomos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517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Operadores: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63240"/>
            <a:ext cx="34747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Y    (conjuncion,  ∧)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O    (disyuncion,  ∨)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-    (negacion,    ¬)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&gt;    (implicacion, →)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=    (equivalencia,↔)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49240"/>
            <a:ext cx="11247120" cy="914400"/>
          </a:xfrm>
          <a:prstGeom prst="roundRect">
            <a:avLst/>
          </a:prstGeom>
          <a:solidFill>
            <a:srgbClr val="D2DCEE"/>
          </a:solidFill>
          <a:ln w="762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1324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2C55"/>
                </a:solidFill>
                <a:latin typeface="Calibri"/>
              </a:rPr>
              <a:t>Codificacion de letras: 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la clase </a:t>
            </a:r>
            <a:r>
              <a:rPr sz="1200" b="1" i="0">
                <a:solidFill>
                  <a:srgbClr val="0F1E3F"/>
                </a:solidFill>
                <a:latin typeface="Consolas"/>
              </a:rPr>
              <a:t>Descriptor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 en </a:t>
            </a:r>
            <a:r>
              <a:rPr sz="1200" b="1" i="0">
                <a:solidFill>
                  <a:srgbClr val="0F1E3F"/>
                </a:solidFill>
                <a:latin typeface="Consolas"/>
              </a:rPr>
              <a:t>Logica.py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 mapea cada par (n,c) a un caracter unico usando </a:t>
            </a:r>
            <a:r>
              <a:rPr sz="1200" b="1" i="0">
                <a:solidFill>
                  <a:srgbClr val="0F1E3F"/>
                </a:solidFill>
                <a:latin typeface="Consolas"/>
              </a:rPr>
              <a:t>chr(256 + n*|C| + c)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. Asi, una sola letra (1 caracter Unicode) representa un atomo proposicional.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Cardinalidad: por que n llega hasta 20?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10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Una sutileza importante del modelo: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4592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64592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Pregunta clave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75104"/>
            <a:ext cx="11247120" cy="104241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048256"/>
            <a:ext cx="1091793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Si solo usamos numeros del 1 al 12, por que el dominio de n llega hasta 20?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Razon: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12471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La regla 1 enumera combinaciones de 4 numeros distintos cuya SUMA sea 26.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La maxima suma alcanzable con 4 numeros distintos cuyos valores son lo mas grandes posibles es 20 + 3 + 2 + 1 = 26.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Si truncaramos a {1..12}, perderiamos combinaciones como (20, 3, 2, 1) y solo obtendriamos parte de las 80 configuraciones validas.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Trabajar con n in {1..20} garantiza generar TODAS las combinaciones validas (luego la solucion del solver solo asigna numeros 1..12 a casillas, sin contradiccion).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Conectivos Iterados: Ytoria y Otoria Balanceadas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11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2C55"/>
                </a:solidFill>
                <a:latin typeface="Calibri"/>
              </a:rPr>
              <a:t>Construyendo formulas grandes sin que el arbol explote: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548640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554480"/>
            <a:ext cx="51572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Ytoria_balanceada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83664"/>
            <a:ext cx="5486400" cy="204825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956816"/>
            <a:ext cx="5157216" cy="1938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Reemplaza una conjuncion iterada (A₁ Y A₂ Y ... Y Aₙ) por un arbol BINARIO BALANCEADO mediante divide-y-venceras.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Beneficio: la profundidad pasa de n a log₂(n), lo cual es CRITICO para tableaux (que descomponen por la raiz) y para el parser.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54480"/>
            <a:ext cx="548640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554480"/>
            <a:ext cx="51572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Otoria_balanceada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83664"/>
            <a:ext cx="5486400" cy="204825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956816"/>
            <a:ext cx="5157216" cy="1938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Analoga para la disyuncion iterada (A₁ O A₂ O ... O Aₙ).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En la regla 1, la disyuncion enumera TODAS las permutaciones validas por linea: sin balanceo el arbol seria una cadena lineal de miles de O encadenadas.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5528" y="4251960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6696" y="425196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2062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Hexagrama_arr.py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C678DD"/>
                </a:solidFill>
                <a:latin typeface="Consolas"/>
              </a:rPr>
              <a:t>def </a:t>
            </a:r>
            <a:r>
              <a:rPr sz="1100" b="1" i="0">
                <a:solidFill>
                  <a:srgbClr val="61AFEF"/>
                </a:solidFill>
                <a:latin typeface="Consolas"/>
              </a:rPr>
              <a:t>Ytoria_balanceada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(lista):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n = len(lista)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C678DD"/>
                </a:solidFill>
                <a:latin typeface="Consolas"/>
              </a:rPr>
              <a:t>    if 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n == 0: </a:t>
            </a:r>
            <a:r>
              <a:rPr sz="1100" b="0" i="0">
                <a:solidFill>
                  <a:srgbClr val="C678DD"/>
                </a:solidFill>
                <a:latin typeface="Consolas"/>
              </a:rPr>
              <a:t>return </a:t>
            </a:r>
            <a:r>
              <a:rPr sz="1100" b="0" i="0">
                <a:solidFill>
                  <a:srgbClr val="98C379"/>
                </a:solidFill>
                <a:latin typeface="Consolas"/>
              </a:rPr>
              <a:t>''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C678DD"/>
                </a:solidFill>
                <a:latin typeface="Consolas"/>
              </a:rPr>
              <a:t>    if 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n == 1: </a:t>
            </a:r>
            <a:r>
              <a:rPr sz="1100" b="0" i="0">
                <a:solidFill>
                  <a:srgbClr val="C678DD"/>
                </a:solidFill>
                <a:latin typeface="Consolas"/>
              </a:rPr>
              <a:t>return 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lista[0]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mid = n // 2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C678DD"/>
                </a:solidFill>
                <a:latin typeface="Consolas"/>
              </a:rPr>
              <a:t>    return </a:t>
            </a:r>
            <a:r>
              <a:rPr sz="1100" b="0" i="0">
                <a:solidFill>
                  <a:srgbClr val="98C379"/>
                </a:solidFill>
                <a:latin typeface="Consolas"/>
              </a:rPr>
              <a:t>"("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 + Ytoria_balanceada(lista[:mid])</a:t>
            </a:r>
            <a:r>
              <a:rPr sz="1100" b="0" i="0">
                <a:solidFill>
                  <a:srgbClr val="98C379"/>
                </a:solidFill>
                <a:latin typeface="Consolas"/>
              </a:rPr>
              <a:t> + "Y"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 + Ytoria_balanceada(lista[mid:])</a:t>
            </a:r>
            <a:r>
              <a:rPr sz="1100" b="0" i="0">
                <a:solidFill>
                  <a:srgbClr val="98C379"/>
                </a:solidFill>
                <a:latin typeface="Consolas"/>
              </a:rPr>
              <a:t> + ")"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3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Reglas del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Cuatro restricciones que, juntas, caracterizan
exactamente a los hexagramas magicos validos.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12 / 53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Regla 1: Suma de cada Linea Recta =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13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0584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00584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Lenguaje Natural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35024"/>
            <a:ext cx="11247120" cy="5394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408176"/>
            <a:ext cx="1091793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La suma de los cuatro numeros que ocupan cualquier linea recta del hexagrama debe ser exactamente 26.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10312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Formalizacion Matematica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32304"/>
            <a:ext cx="11247120" cy="186537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505456"/>
            <a:ext cx="10917936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    ⋀  l ∈ Lineas      ⋁  (n₁,n₂,n₃,n₄) ∈ Combs(l)    ( Dₙ₁,l[1]  Y  Dₙ₂,l[2]  Y  Dₙ₃,l[3]  Y  Dₙ₄,l[4] )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donde  Combs(l) = { permutaciones de 4 numeros distintos cuya suma = 26 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2628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52628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Descripcion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55464"/>
            <a:ext cx="11247120" cy="14538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928616"/>
            <a:ext cx="10917936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E3F"/>
                </a:solidFill>
                <a:latin typeface="Calibri"/>
              </a:rPr>
              <a:t>Para cada linea l existe alguna asignacion de 4 numeros distintos cuya suma es 26 y que ocupan exactamente las 4 casillas de l. Es la regla mas pesada: combina seleccion de combinaciones (subset-sum) con todas las permutaciones validas.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Regla 2: Completitud de Casillas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14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0584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00584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Lenguaje Natural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35024"/>
            <a:ext cx="11247120" cy="5394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408176"/>
            <a:ext cx="1091793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Ninguna casilla del hexagrama puede quedar vacia.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10312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Formalizacion Matematica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32304"/>
            <a:ext cx="11247120" cy="186537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505456"/>
            <a:ext cx="10917936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                          ⋀  c ∈ Casillas     ⋁  n ∈ N    Dₙ,c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Para toda casilla c, existe al menos un numero n tal que n esta en 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2628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52628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Descripcion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55464"/>
            <a:ext cx="11247120" cy="14538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928616"/>
            <a:ext cx="10917936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E3F"/>
                </a:solidFill>
                <a:latin typeface="Calibri"/>
              </a:rPr>
              <a:t>Garantiza que cada una de las 12 casillas tenga al menos un numero asignado. Es la regla mas estructurada y suele resolverse en milisegundos por cualquier solver.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Regla 3: Unicidad Global del Numero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15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0584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00584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Lenguaje Natural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35024"/>
            <a:ext cx="11247120" cy="5394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408176"/>
            <a:ext cx="1091793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Si un numero esta en una casilla, no puede estar en ninguna otra (no hay numeros repetidos).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10312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Formalizacion Matematica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32304"/>
            <a:ext cx="11247120" cy="186537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505456"/>
            <a:ext cx="10917936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        ⋀  n ∈ N      ⋀  c ∈ Casillas    ( Dₙ,c  →  ¬  ⋁  e ≠ c    Dₙ,e )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Si n esta en c, entonces n NO esta en ninguna otra casilla e ≠ 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2628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52628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Descripcion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55464"/>
            <a:ext cx="11247120" cy="14538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928616"/>
            <a:ext cx="10917936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E3F"/>
                </a:solidFill>
                <a:latin typeface="Calibri"/>
              </a:rPr>
              <a:t>Implementa exclusion mutua a nivel de numero. Genera del orden de |N|*|C|*(|C|-1) implicaciones, lo que se traduce en miles de clausulas tras Tseitin.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Regla 4: A lo sumo un Numero por Casilla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16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0584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00584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Lenguaje Natural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35024"/>
            <a:ext cx="11247120" cy="5394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408176"/>
            <a:ext cx="1091793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Cada casilla contiene a lo sumo un numero (no se pueden poner dos numeros distintos en la misma posicion).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10312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Formalizacion Matematica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32304"/>
            <a:ext cx="11247120" cy="186537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505456"/>
            <a:ext cx="10917936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        ⋀  c ∈ Casillas   ⋀  n,m ∈ N, n ≠ m    ( Dₙ,c  →  ¬  Dₘ,c )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mbria"/>
              </a:rPr>
              <a:t>Si n esta en c, entonces ningun otro numero m puede estar tambien en 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2628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52628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Descripcion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55464"/>
            <a:ext cx="11247120" cy="145389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928616"/>
            <a:ext cx="10917936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E3F"/>
                </a:solidFill>
                <a:latin typeface="Calibri"/>
              </a:rPr>
              <a:t>Implementa exclusion mutua a nivel de casilla. Es cuadratica en |N|: con |N|=20 y |C|=12 genera 12 · 20 · 19 = 4,560 implicaciones binarias. Es la regla que mas castiga a la fuerza bruta.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4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Arquitectura e Implementacion Computacional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Dos modulos, una clase central y un pipeline
de 6 pasos para llevar una regla a un modelo dibujado.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17 / 53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Arquitectura General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18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Modulos: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5669280" cy="150876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4475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C55"/>
                </a:solidFill>
                <a:latin typeface="Consolas"/>
              </a:rPr>
              <a:t>Logica.py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78308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E3F"/>
                </a:solidFill>
                <a:latin typeface="Calibri"/>
              </a:rPr>
              <a:t>Clases Formula, Letra, Negacion, Binario y Descriptor (chr/ord). Transformaciones a FNC: eliminar_imp, DeMorgan, distribuir_o_en_y, fnc(), tseitin(). Los CINCO solvers viven aqui: SATtabla, tableaux (primero_anchura / primero_profundidad / backtracking), dpll (con unit_propagate), walkSAT (clase WalkSatEstado) y MiniSAT (pycosat + Minisat22). Funcion filtro() para quitar variables de Tseitin.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5669280" cy="150876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9067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C55"/>
                </a:solidFill>
                <a:latin typeface="Consolas"/>
              </a:rPr>
              <a:t>Hexagrama_arr.py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E3F"/>
                </a:solidFill>
                <a:latin typeface="Calibri"/>
              </a:rPr>
              <a:t>Clase Numero(N=12, C=12). Implementa regla1..regla4 devolviendo strings inorder. Define Ytoria_balanceada y Otoria_balanceada (divide-y-venceras). Metodo visualizar(I) que pinta el hexagrama con matplotlib.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663440"/>
            <a:ext cx="5669280" cy="150876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3659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C55"/>
                </a:solidFill>
                <a:latin typeface="Consolas"/>
              </a:rPr>
              <a:t>Proyecto_*.ipynb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E3F"/>
                </a:solidFill>
                <a:latin typeface="Calibri"/>
              </a:rPr>
              <a:t>Un notebook por solver: Reglas, SATTabla, Tableaux, DPLL, WalkSAT, MiniSAT. Cada uno construye n = Numero(), evalua cada regla por separado y luego la conjuncion total.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9144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Pipeline de una regla: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141732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39903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C55"/>
                </a:solidFill>
                <a:latin typeface="Consolas"/>
              </a:rPr>
              <a:t>regla_i()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6916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Construye string inorder con Y/Otoria_balanceada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05740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03911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C55"/>
                </a:solidFill>
                <a:latin typeface="Consolas"/>
              </a:rPr>
              <a:t>inorder_to_tree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331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Parsea el string a un arbol Formula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269748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697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67919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C55"/>
                </a:solidFill>
                <a:latin typeface="Consolas"/>
              </a:rPr>
              <a:t>tseitin(A)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971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Transforma a FNC polinomial (variables fresh)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333756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337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31927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C55"/>
                </a:solidFill>
                <a:latin typeface="Consolas"/>
              </a:rPr>
              <a:t>Solver(S)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6118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SATtabla / Tableaux / DPLL / WalkSAT / MiniSAT22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0" y="397764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977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95935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C55"/>
                </a:solidFill>
                <a:latin typeface="Consolas"/>
              </a:rPr>
              <a:t>filtro(I, 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2519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Elimina variables auxiliares de Tseitin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0" y="461772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617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59943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2C55"/>
                </a:solidFill>
                <a:latin typeface="Consolas"/>
              </a:rPr>
              <a:t>n.visualizar(I)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48920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Dibuja el hexagrama con la interpretacion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La Clase Numero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19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2C55"/>
                </a:solidFill>
                <a:latin typeface="Calibri"/>
              </a:rPr>
              <a:t>El corazon del modelado: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6858000" cy="4937760"/>
          </a:xfrm>
          <a:prstGeom prst="round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150876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1508760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6696" y="150876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1463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Hexagrama_arr.py - class Numero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28800"/>
            <a:ext cx="63093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C678DD"/>
                </a:solidFill>
                <a:latin typeface="Consolas"/>
              </a:rPr>
              <a:t>class </a:t>
            </a:r>
            <a:r>
              <a:rPr sz="1100" b="1" i="0">
                <a:solidFill>
                  <a:srgbClr val="E5C07B"/>
                </a:solidFill>
                <a:latin typeface="Consolas"/>
              </a:rPr>
              <a:t>Numero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C678DD"/>
                </a:solidFill>
                <a:latin typeface="Consolas"/>
              </a:rPr>
              <a:t>    def </a:t>
            </a:r>
            <a:r>
              <a:rPr sz="1100" b="0" i="0">
                <a:solidFill>
                  <a:srgbClr val="61AFEF"/>
                </a:solidFill>
                <a:latin typeface="Consolas"/>
              </a:rPr>
              <a:t>__init__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(self, N=12, C=12):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self.N = N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self.C = C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self.NenC = </a:t>
            </a:r>
            <a:r>
              <a:rPr sz="1100" b="0" i="0">
                <a:solidFill>
                  <a:srgbClr val="E5C07B"/>
                </a:solidFill>
                <a:latin typeface="Consolas"/>
              </a:rPr>
              <a:t>Descriptor</a:t>
            </a:r>
            <a:r>
              <a:rPr sz="1100" b="0" i="0">
                <a:solidFill>
                  <a:srgbClr val="E6EDF8"/>
                </a:solidFill>
                <a:latin typeface="Consolas"/>
              </a:rPr>
              <a:t>([N, C])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self.NenC.escribir = MethodType(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escribir_numero, self.NenC)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r1 = self.regla1()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r2 = self.regla2()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r3 = self.regla3()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r4 = self.regla4()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self.reglas = [r1, r2, r3, r4]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Atributos clave: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1737360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N = 12: cuantos numeros (1..12 visibles)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C = 12: cuantas casillas en el hexagrama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NenC: descriptor binario (numero, casilla)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reglas: lista [r1, r2, r3, r4] en inorder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114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Por que aqui?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48056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Encapsular el problema permite que cada SAT solver simplemente reciba el atributo n.reglas y trabaje sobre el. La separacion Logica.py / Hexagrama_arr.py mantiene el problema independiente del motor.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Implementacion: Regla 1 (suma = 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20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Enumera combinaciones validas de 4 numeros que sumen 26 y todas sus permutaciones sobre cada linea.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1247120" cy="4206240"/>
          </a:xfrm>
          <a:prstGeom prst="round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150876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1508760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6696" y="150876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14630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Hexagrama_arr.py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28800"/>
            <a:ext cx="106984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def regla1(self):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val_numeros = np.arange(self.N)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# 1) combinaciones de 4 numeros distintos cuya suma sea 26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comb_validas = np.array([c for c in combinations(val_numeros, 4)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            if sum(x + 1 for x in c) == 26])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# 2) las 6 lineas rectas (subconjuntos de casillas)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lineas = np.array([[0,2,5,7], [0,3,6,10], [7,8,9,10],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      [1,2,3,4], [1,5,8,11], [4,6,9,11]])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formulas_lineas = []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for linea in lineas: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opciones_linea = []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for comb in comb_validas: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for perm in permutations(comb):  # 4! = 24 ordenes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c0 = self.NenC.ravel([perm[0], linea[0]])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c1 = self.NenC.ravel([perm[1], linea[1]])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c2 = self.NenC.ravel([perm[2], linea[2]])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c3 = self.NenC.ravel([perm[3], linea[3]])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opciones_linea.append(Ytoria_balanceada([c0,c1,c2,c3]))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formulas_lineas.append(Otoria_balanceada(opciones_linea))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return Ytoria_balanceada(formulas_lineas)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Para cada una de las 6 lineas se generan miles de cuadruplas validas; la disyuncion balanceada agrupa todas las opciones validas y la conjuncion global pide que todas las lineas sean satisfechas.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Implementacion: Regla 2 (completitud)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21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Cada casilla c debe contener al menos un numero 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1247120" cy="4206240"/>
          </a:xfrm>
          <a:prstGeom prst="round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150876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1508760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6696" y="150876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14630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Hexagrama_arr.py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28800"/>
            <a:ext cx="106984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def regla2(self):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casillas = np.arange(self.C)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numeros  = np.arange(self.N)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lista = []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for c in casillas: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lista_o = []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for n in numeros: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lista_o.append(self.NenC.ravel([n, c]))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lista.append(Otoria_balanceada(lista_o))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return Ytoria_balanceada(lista)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Una Otoria por casilla (existe algun numero) envuelta en una Ytoria global (para todas las casillas).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Implementacion: Regla 3 (unicidad global)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22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Si el numero n esta en c, no puede estar en otra casilla.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1247120" cy="4206240"/>
          </a:xfrm>
          <a:prstGeom prst="round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150876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1508760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6696" y="150876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14630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Hexagrama_arr.py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28800"/>
            <a:ext cx="106984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def regla3(self):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num_casillas = np.array([(n, c)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            for n in range(self.N)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            for c in range(self.C)])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lista = []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for m in num_casillas: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n, c = m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otras_casillas = np.array([c1 for c1 in range(self.C)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                  if c1 != c])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lista_o = []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for k in otras_casillas: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lista_o.append(self.NenC.ravel([n, k]))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form = '(' + self.NenC.ravel([*m]) + '&gt;-' + \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Otoria_balanceada(lista_o) + ')'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lista.append(form)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return Ytoria_balanceada(lista)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Implementa la implicacion  D_{n,c} -&gt; NOT (OR_{e != c} D_{n,e})  para cada par (n, c).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Implementacion: Regla 4 (a lo sumo uno)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23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Para cada casilla c, no pueden coexistir dos numeros distintos n y 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1247120" cy="4206240"/>
          </a:xfrm>
          <a:prstGeom prst="round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150876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1508760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6696" y="150876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14630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Hexagrama_arr.py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28800"/>
            <a:ext cx="106984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def regla4(self):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formulas = []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for c in range(self.C):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for n in range(self.N):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for m in range(self.N):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if n != m: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   formulas.append(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       f'({self.NenC.ravel([n, c])}'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       f'&gt;-{self.NenC.ravel([m, c])})')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return Ytoria_balanceada(formulas)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Genera C * N * (N-1) implicaciones binarias. Para N=20 y C=12 son 4,560 implicaciones. Es la responsable del peor caso de SATtabla (11 horas).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Metodo visualizar(): de la Interpretacion al Dibujo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24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Traduce un diccionario booleano {letra: True/False} en el hexagrama dibujado.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Proposito: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Convertir la interpretacion boolena I devuelta por el solver en un grafico interpretable.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Proceso: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Construye los dos triangulos con matplotlib.patches.Polygon.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Mantiene un diccionario casilla_a_numeros (permite varios numeros por casilla, util para depurar).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Recorre I; para cada literal verdadero (sin '-') decodifica (n, c) con NenC.unravel.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Dibuja en la posicion correcta usando una tabla de coordenadas (centro de cada casilla).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0F1E3F"/>
                </a:solidFill>
                <a:latin typeface="Calibri"/>
              </a:rPr>
              <a:t>Si una casilla tiene 2+ numeros, reduce el tamano de fuente automaticamente.</a:t>
            </a:r>
          </a:p>
        </p:txBody>
      </p:sp>
      <p:pic>
        <p:nvPicPr>
          <p:cNvPr id="16" name="Picture 15" descr="_hexagrama_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389120" cy="4389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0" y="57607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Salida del visualizador para una solucion valida.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5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Metodos SAT Solver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Cinco enfoques distintos para responder la misma pregunta:
existe alguna interpretacion que satisfaga la formula?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25 / 53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Analisis Comparativo con Metodos SAT 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26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La seleccion de metodos SAT responde a una intencion </a:t>
            </a:r>
            <a:r>
              <a:rPr sz="1300" b="1" i="0">
                <a:solidFill>
                  <a:srgbClr val="1A2C55"/>
                </a:solidFill>
                <a:latin typeface="Calibri"/>
              </a:rPr>
              <a:t>pedagogica y experimental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para evaluar cada regla del hexagrama magico: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8EA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691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1. SATtabla  </a:t>
            </a:r>
            <a:r>
              <a:rPr sz="1300" b="0" i="1">
                <a:solidFill>
                  <a:srgbClr val="0F1E3F"/>
                </a:solidFill>
                <a:latin typeface="Calibri"/>
              </a:rPr>
              <a:t>Tabla de verdad - base conceptual exhaustiva (Logica.py).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331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2. SATtableaux  </a:t>
            </a:r>
            <a:r>
              <a:rPr sz="1300" b="0" i="1">
                <a:solidFill>
                  <a:srgbClr val="0F1E3F"/>
                </a:solidFill>
                <a:latin typeface="Calibri"/>
              </a:rPr>
              <a:t>Descomposicion en arbol - 3 estrategias: anchura, profundidad, backtracking.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3D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971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3. DPLL  </a:t>
            </a:r>
            <a:r>
              <a:rPr sz="1300" b="0" i="1">
                <a:solidFill>
                  <a:srgbClr val="0F1E3F"/>
                </a:solidFill>
                <a:latin typeface="Calibri"/>
              </a:rPr>
              <a:t>Davis-Putnam-Logemann-Loveland - propagacion unitaria + backtracking.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4. WalkSAT  </a:t>
            </a:r>
            <a:r>
              <a:rPr sz="1300" b="0" i="1">
                <a:solidFill>
                  <a:srgbClr val="0F1E3F"/>
                </a:solidFill>
                <a:latin typeface="Calibri"/>
              </a:rPr>
              <a:t>Busqueda local estocastica - flips probabilisticos sobre asignacion completa.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25196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51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5. MiniSAT22 (CDCL)  </a:t>
            </a:r>
            <a:r>
              <a:rPr sz="1300" b="0" i="1">
                <a:solidFill>
                  <a:srgbClr val="0F1E3F"/>
                </a:solidFill>
                <a:latin typeface="Calibri"/>
              </a:rPr>
              <a:t>Estado del arte - aprendizaje de clausulas y backjumping no-cronologico.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8640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48640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15584"/>
            <a:ext cx="11247120" cy="63093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888736"/>
            <a:ext cx="10917936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Validar la formalizacion del hexagrama y comprender ventajas y limitaciones de cada estrategia, aplicando los cinco SAT solvers a cada regla por separado y a la conjuncion total.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Implementacion de los SAT-Solvers en Logica.py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27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2C55"/>
                </a:solidFill>
                <a:latin typeface="Calibri"/>
              </a:rPr>
              <a:t>Las cinco estrategias se implementaron en el modulo. Tres piezas clave: filtrado de Tseitin, DPLL con propagacion unitaria y MiniSAT via PySAT.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417320"/>
            <a:ext cx="5623560" cy="4846320"/>
          </a:xfrm>
          <a:prstGeom prst="round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155448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1554480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6696" y="155448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1508760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filtro()  +  dpll()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74520"/>
            <a:ext cx="5074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def filtro(I, formula_original):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if I is None or I == {}: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return I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reales = set(inorder_to_tree(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formula_original).letras())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return {v: val for v, val in I.items()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if v in reales}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def dpll(F, S, I):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S, I, conf = unit_propagate(S, I)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if conf: return 'Insatisfacible', {}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if len(S) == 0: return 'Satisfacible', I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if any(len(c)==0 for c in S):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return 'Insatisfacible', {}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S = sorted(S, key=len)   # clausula corta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l = S[0][0]; lc = complemento_dpll(l)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r, I2 = dpll(F, eliminar_literal(S, l),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 extender_I(deepcopy(I), l))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if r == 'Satisfacible':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return r, filtro(I2, F)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return dpll(F, eliminar_literal(S, lc),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extender_I(deepcopy(I), lc))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417320"/>
            <a:ext cx="5440680" cy="4846320"/>
          </a:xfrm>
          <a:prstGeom prst="round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155448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01968" y="1554480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03136" y="155448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5087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MiniSAT()  (pycosat + Minisat22)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74520"/>
            <a:ext cx="48920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from pysat.solvers import Minisat22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import pycosat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def MiniSAT(A):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def lit_numero(l):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return (-(ord(l[1:]) - 255)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if '-' in l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    else ord(l) - 255)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# letra -&gt; entero (codificacion DIMACS)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S = fnc_numero(tseitin(A))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with Minisat22(bootstrap_with=S) as m: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if m.solve():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I = obtener_int(m.get_model())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    return 'Satisfacible', filtro(I, A)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        return 'Insatisfacible', {}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# WalkSAT: clase WalkSatEstado con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# break_count() y clausulas_sat/unsat;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# tableaux: primero_anchura,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DF8"/>
                </a:solidFill>
                <a:latin typeface="Consolas"/>
              </a:rPr>
              <a:t># primero_profundidad, backtracking.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1. SATtabla (Tablas de Verdad)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28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Descripcion: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Enumeracion exhaustiva de todas las posibles asignaciones (2^n).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Evalua la formula completa para cada combinacion.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Metodo fundamental y conceptualmente simple, implementado en Logica.py.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Ventajas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Completitud garantizada.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Certeza absoluta (siempre encuentra o descarta).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Ideal para didactica y para corroborar.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Desventajas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Complejidad O(2^n).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Inviable para problemas grandes.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Sin optimizaciones de poda.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1247120" cy="50292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A2C55"/>
                </a:solidFill>
                <a:latin typeface="Calibri"/>
              </a:rPr>
              <a:t>Para el hexagrama, con 240 atomos, 2^240 ≈ 1.77 x 10^72 asignaciones: completamente impracticable.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2. SATtableaux (Tableaux Semanticos)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29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Descripcion: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Construccion de un arbol de descomposicion segun reglas alfa y beta.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Implementadas tres estrategias: primero en anchura, primero en profundidad y backtracking.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Deteccion temprana de contradicciones por literales complementarios en una rama.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Ventajas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Mas eficiente que tablas en muchos casos.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Poda de ramas contradictorias.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Representacion visual intuitiva.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Completo y correcto.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Desventajas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Complejidad exponencial en el peor caso.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Muy sensible al orden de expansion.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Consumo significativo de memoria.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Profundidad de recursion enorme.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1247120" cy="50292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A2C55"/>
                </a:solidFill>
                <a:latin typeface="Calibri"/>
              </a:rPr>
              <a:t>En el proyecto fue necesario hacer sys.setrecursionlimit(10,000,000) para que Python no abortara antes de tiempo.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3. DPLL (Davis-Putnam-Logemann-Loveland)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30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Descripcion: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Trabaja sobre formula en FNC obtenida via Tseitin.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Busqueda con retroceso (backtracking).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Propagacion de clausulas unitarias (unit propagation).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Base teorica de practicamente todos los solvers modernos.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Ventajas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Inferencias deterministas.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Reduccion dramatica del espacio.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Completo y correcto.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Muy efectivo en problemas estructurados.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Desventajas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Retroceso cronologico (sin backjumping).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Sin aprendizaje de conflictos.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Sensible a heuristicas de seleccion.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Mas lento que CDCL en instancias industriales.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1247120" cy="50292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A2C55"/>
                </a:solidFill>
                <a:latin typeface="Calibri"/>
              </a:rPr>
              <a:t>La implementacion del proyecto incluye una heuristica: ordenar las clausulas por longitud y ramificar por el primer literal de la clausula mas corta.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4. WalkSAT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31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Descripcion: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Busqueda local estocastica sobre asignaciones COMPLETAS.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En cada paso, escoge una clausula no satisfecha y voltea un literal (greedy o random).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Balance entre exploracion y explotacion (parametro p).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Ventajas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Extremadamente eficiente en problemas aleatorios.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Memoria constante.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Simple de implementar.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Multiples reinicios posibles.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Desventajas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Incompleto: no demuestra insatisfacibilidad.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Dependiente de parametros (max_flips, p).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Atrapamiento en optimos locales.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Inconsistente en problemas estructurados.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1247120" cy="50292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A2C55"/>
                </a:solidFill>
                <a:latin typeface="Calibri"/>
              </a:rPr>
              <a:t>Medido: WalkSAT resuelve R2 en 0.84 s, pero en R3 corre 12 h 25 min SIN encontrar solucion y en R4 se interrumpe a las 14 h 43 min. Los optimos locales y las restricciones de unicidad fuerzan flips que destruyen el progreso.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5. MiniSAT22 (CDCL - Estado del Arte)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32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Descripcion: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Conflict-Driven Clause Learning: aprende clausulas a partir de cada conflicto.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Backjumping no-cronologico: salta varios niveles de decision a la vez.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Heuristica de seleccion VSIDS (Variable State Independent Decaying Sum).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Implementacion C de referencia usada via libreria python-sat (Minisat22).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Ventajas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Memoria de conflictos evita repetir errores.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Saltos inteligentes en el espacio de busqueda.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Heuristicas sofisticadas (watched literals, VSIDS).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Maneja millones de variables y clausulas.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5486400" cy="2377440"/>
          </a:xfrm>
          <a:prstGeom prst="roundRect">
            <a:avLst/>
          </a:prstGeom>
          <a:solidFill>
            <a:srgbClr val="E4EAF5"/>
          </a:solidFill>
          <a:ln w="762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Desventajas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Gestion de memoria mas compleja.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Codigo de implementacion no trivial.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Overhead computacional en problemas chicos.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Configuracion de parametros no obvia.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1247120" cy="50292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A2C55"/>
                </a:solidFill>
                <a:latin typeface="Calibri"/>
              </a:rPr>
              <a:t>Medido: MiniSAT22 resuelve R2, R3 y R4 en milisegundos; el cuello de botella es la Regla 1 (suma=26), que toma 19.1 s. La conjuncion de las 4 reglas se resuelve en 33.1 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Sintesis Comparativa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33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3017520" cy="45720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Metodo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1371600"/>
            <a:ext cx="2011680" cy="45720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1371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Completitud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371600"/>
            <a:ext cx="2286000" cy="45720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1371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Complejidad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2011680" cy="45720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371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Aprendizaje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1371600"/>
            <a:ext cx="2743200" cy="45720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1371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Aplicabilidad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1828800"/>
            <a:ext cx="301752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18288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SATtabla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1828800"/>
            <a:ext cx="201168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1828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1828800"/>
            <a:ext cx="228600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18288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O(2^n)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828800"/>
            <a:ext cx="201168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1828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1828800"/>
            <a:ext cx="274320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Didactica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2286000"/>
            <a:ext cx="301752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2860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Tableaux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2286000"/>
            <a:ext cx="201168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Si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2286000"/>
            <a:ext cx="228600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22860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Exponencial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2286000"/>
            <a:ext cx="201168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2286000"/>
            <a:ext cx="274320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0" y="22860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Problemas pequenos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2743200"/>
            <a:ext cx="301752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27432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DPLL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2743200"/>
            <a:ext cx="201168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2743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Si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2743200"/>
            <a:ext cx="228600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0" y="2743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Exponencial*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2743200"/>
            <a:ext cx="201168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2743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58400" y="2743200"/>
            <a:ext cx="274320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0" y="2743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Problemas estructurados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3200400"/>
            <a:ext cx="301752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WalkSAT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9040" y="3200400"/>
            <a:ext cx="201168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0" y="3200400"/>
            <a:ext cx="228600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0" y="32004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Polinomial**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46720" y="3200400"/>
            <a:ext cx="201168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58400" y="3200400"/>
            <a:ext cx="2743200" cy="45720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0" y="3200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Instancias satisfacibles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3657600"/>
            <a:ext cx="301752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MiniSAT22 (CDCL)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49040" y="3657600"/>
            <a:ext cx="201168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49040" y="3657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Si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60720" y="3657600"/>
            <a:ext cx="228600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0720" y="3657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Exponencial*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46720" y="3657600"/>
            <a:ext cx="201168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46720" y="3657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Si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058400" y="3657600"/>
            <a:ext cx="2743200" cy="45720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58400" y="3657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Industrial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Cuadro: *Con poda eficiente, **Sin garantia de terminacion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4846320"/>
            <a:ext cx="1069848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6112" y="4846320"/>
            <a:ext cx="103692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5175504"/>
            <a:ext cx="10698480" cy="104241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6112" y="5248656"/>
            <a:ext cx="1036929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MiniSAT22 emerge como el enfoque mas robusto al combinar busqueda sistematica completa (CDCL) con aprendizaje adaptativo de conflictos. Resuelve la conjuncion en 33 s, hasta 3 ordenes de magnitud mas rapido que los metodos academicos que corren horas sin terminar.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6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Metodologia y Analisis Experimental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Como se corrio el experimento, en que hardware
y con que protocolos de medicion.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34 / 53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Metodologia Experimental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35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E3F"/>
                </a:solidFill>
                <a:latin typeface="Calibri"/>
              </a:rPr>
              <a:t>Protocolo de Evaluacion Incremental: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9436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Evaluar cada regla individualmente (R1, R2, R3, R4).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Evaluar la conjuncion total de las 4 reglas (R1 ∧ R2 ∧ R3 ∧ R4).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Para cada combinacion regla x solver se mide tiempo con %%time de Jupyter.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Si el solver no termina en 24 horas, se marca como Timeout (interrumpido).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Validar el modelo encontrado con verificar_modelo(reglas, I).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Hardware de Pruebas: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Maquina virtual Oracle VirtualBox.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Sistema base: Windows / Linux (segun integrante).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Python 3.x + Jupyter Notebook.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Librerias: numpy, matplotlib, pycosat, python-sat.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sys.setrecursionlimit(10,000,000) para tableaux y DPLL.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914400"/>
            <a:ext cx="502920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914400"/>
            <a:ext cx="47000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Resultado Binario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243584"/>
            <a:ext cx="5029200" cy="149961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1316736"/>
            <a:ext cx="4700016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Cada ejecucion produce uno de dos posibles estados:
   (1) Exito  -  el solver termina y devuelve modelo o UNSAT.
   (2) Interrupcion (Timeout)  -  pasa el limite de 24h.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017520"/>
            <a:ext cx="502920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017520"/>
            <a:ext cx="47000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Limite Temporal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346704"/>
            <a:ext cx="5029200" cy="305409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419856"/>
            <a:ext cx="4700016" cy="294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Tiempo maximo permitido por ejecucion: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      24 horas (un dia completo)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Justificacion: algunas reglas (R3, R4) generan miles de clausulas tras Tseitin. Dar mas tiempo no ayuda: o el solver gana en horas, o no gana en absoluto.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1. SATtabla - Tablas de Verdad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36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Caracteristicas: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Enumeracion exhaustiva.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Espacio: 2^240 ≈ 10^72.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Complejidad: O(2^n).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6400800" cy="365760"/>
          </a:xfrm>
          <a:prstGeom prst="roundRect">
            <a:avLst/>
          </a:prstGeom>
          <a:solidFill>
            <a:srgbClr val="3D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6400800" cy="146304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1E3F"/>
                </a:solidFill>
                <a:latin typeface="Calibri"/>
              </a:rPr>
              <a:t>R1: 116 ms  ·  R4: 11 h 06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R1 y R2 resueltas; R4 interrumpida a las 11 h, conjuncion en timeout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[ok]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Simple, completo, ideal para entender el problema.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978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077A5"/>
                </a:solidFill>
                <a:latin typeface="Calibri"/>
              </a:rPr>
              <a:t>[!] 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Inviable para problemas con muchos atomos.</a:t>
            </a:r>
          </a:p>
        </p:txBody>
      </p:sp>
      <p:pic>
        <p:nvPicPr>
          <p:cNvPr id="20" name="Picture 19" descr="_hexagrama_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114800" cy="411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5440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Figura: solucion del hexagrama validada manualmente.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2. SATtableaux - Tableaux Semanticos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37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Caracteristicas: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Descomposicion en arbol con reglas alfa/beta.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Tres estrategias: anchura, profundidad, backtracking.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Poda de ramas contradictorias.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6400800" cy="365760"/>
          </a:xfrm>
          <a:prstGeom prst="roundRect">
            <a:avLst/>
          </a:prstGeom>
          <a:solidFill>
            <a:srgbClr val="3D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6400800" cy="146304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1E3F"/>
                </a:solidFill>
                <a:latin typeface="Calibri"/>
              </a:rPr>
              <a:t>Profundidad - todas: 10 h 42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Backtracking - todas: 6 h 22 min  ·  R4: 1 min 18 s, R1: 2.4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[ok]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Deteccion temprana de conflictos.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978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077A5"/>
                </a:solidFill>
                <a:latin typeface="Calibri"/>
              </a:rPr>
              <a:t>[!] 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Complejidad exponencial persiste.</a:t>
            </a:r>
          </a:p>
        </p:txBody>
      </p:sp>
      <p:pic>
        <p:nvPicPr>
          <p:cNvPr id="20" name="Picture 19" descr="_hexagrama_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114800" cy="411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5440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Truco: fijar una linea (condicion inicial) acelera la busqueda.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3. DPLL - Primer Exito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38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Caracteristicas: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Propagacion unitaria (unit propagation).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Eliminacion de literales puros (implicita).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Backtracking cronologico con heuristica de clausula corta.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6400800" cy="365760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6400800" cy="146304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1E3F"/>
                </a:solidFill>
                <a:latin typeface="Calibri"/>
              </a:rPr>
              <a:t>R1: 2 min 08 s  ·  Conjuncion: 4 min 58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Completado en TODAS las reglas (R2: 86 ms, R3: 2.5 s, R4: 9.9 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[ok]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Reduce dramaticamente el espacio de busqueda.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978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077A5"/>
                </a:solidFill>
                <a:latin typeface="Calibri"/>
              </a:rPr>
              <a:t>[!] 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Backtracking cronologico sin aprendizaje.</a:t>
            </a:r>
          </a:p>
        </p:txBody>
      </p:sp>
      <p:pic>
        <p:nvPicPr>
          <p:cNvPr id="20" name="Picture 19" descr="_hexagrama_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114800" cy="411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5440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Figura: modelo valido encontrado por DPLL.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4. WalkSAT - Busqueda Estocastica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39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Caracteristicas: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Busqueda local sobre asignaciones completas.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Movimientos aleatorios y greedy.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Multiples reinicios.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6400800" cy="365760"/>
          </a:xfrm>
          <a:prstGeom prst="round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6400800" cy="146304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1E3F"/>
                </a:solidFill>
                <a:latin typeface="Calibri"/>
              </a:rPr>
              <a:t>R3: 12 h 25 min  ·  R4: 14 h 43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R2 resuelta en 0.84 s; R3 sin solucion, R4 interrumpida (optimos locales)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[ok]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Excelente en instancias aleatorias.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978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077A5"/>
                </a:solidFill>
                <a:latin typeface="Calibri"/>
              </a:rPr>
              <a:t>[!] 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Incompleto, no garantiza convergencia.</a:t>
            </a:r>
          </a:p>
        </p:txBody>
      </p:sp>
      <p:pic>
        <p:nvPicPr>
          <p:cNvPr id="20" name="Picture 19" descr="_hexagrama_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114800" cy="411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5440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Figura: R2 resuelta; R3 y R4 no convergen.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5. MiniSAT22 - Estado del 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40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Caracteristicas: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2588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Aprendizaje de clausulas (CDCL).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Backjumping no cronologico.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Heuristica VSIDS y watched literals.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6400800" cy="365760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6400800" cy="1463040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1E3F"/>
                </a:solidFill>
                <a:latin typeface="Calibri"/>
              </a:rPr>
              <a:t>R1: 19.1 s  ·  Conjuncion: 33.1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C55"/>
                </a:solidFill>
                <a:latin typeface="Calibri"/>
              </a:rPr>
              <a:t>Completado en TODAS las reglas (R2-R4 en milisegundos)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C55"/>
                </a:solidFill>
                <a:latin typeface="Calibri"/>
              </a:rPr>
              <a:t>[ok]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Memoria de conflictos evita repeticiones.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978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077A5"/>
                </a:solidFill>
                <a:latin typeface="Calibri"/>
              </a:rPr>
              <a:t>[!] 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El mas eficiente: ordenes de magnitud por debajo de DPLL.</a:t>
            </a:r>
          </a:p>
        </p:txBody>
      </p:sp>
      <p:pic>
        <p:nvPicPr>
          <p:cNvPr id="20" name="Picture 19" descr="_hexagrama_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114800" cy="411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5440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3D5586"/>
                </a:solidFill>
                <a:latin typeface="Calibri"/>
              </a:rPr>
              <a:t>Figura: solucion optima de las 4 reglas en 33 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7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Analisis Comparativo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Las cifras puestas juntas:
que solver gana, que solver no termina, y por 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41 / 53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Tabla Comparativa de Tiempos de Ejecucion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42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2377440" cy="41148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887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SAT Solver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188720"/>
            <a:ext cx="1188720" cy="41148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18872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1188720"/>
            <a:ext cx="914400" cy="41148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11887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188720"/>
            <a:ext cx="1280160" cy="41148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1887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1371600" cy="41148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1887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1188720"/>
            <a:ext cx="2286000" cy="41148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1887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Conjuncion (R1..R4)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188720"/>
            <a:ext cx="1463040" cy="411480"/>
          </a:xfrm>
          <a:prstGeom prst="rect">
            <a:avLst/>
          </a:prstGeom>
          <a:solidFill>
            <a:srgbClr val="1A2C55"/>
          </a:solidFill>
          <a:ln w="635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18872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Estado global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600200"/>
            <a:ext cx="23774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16002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E3F"/>
                </a:solidFill>
                <a:latin typeface="Calibri"/>
              </a:rPr>
              <a:t>SATtabla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1600200"/>
            <a:ext cx="118872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16002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116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1600200"/>
            <a:ext cx="9144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16002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0.5 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1600200"/>
            <a:ext cx="128016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6002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timeout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1600200"/>
            <a:ext cx="13716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16002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11 h 06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0" y="1600200"/>
            <a:ext cx="22860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0" y="16002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Timeout (&gt;24 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1600200"/>
            <a:ext cx="14630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160020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Interrumpido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011680"/>
            <a:ext cx="237744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20116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E3F"/>
                </a:solidFill>
                <a:latin typeface="Calibri"/>
              </a:rPr>
              <a:t>Tableaux - anchura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2011680"/>
            <a:ext cx="118872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0" y="201168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2011680"/>
            <a:ext cx="9144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0" y="201168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3 min 12s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0" y="2011680"/>
            <a:ext cx="128016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20116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2011680"/>
            <a:ext cx="13716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20116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2011680"/>
            <a:ext cx="22860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20116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84080" y="2011680"/>
            <a:ext cx="146304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0" y="201168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Interrumpido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2423160"/>
            <a:ext cx="23774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24231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E3F"/>
                </a:solidFill>
                <a:latin typeface="Calibri"/>
              </a:rPr>
              <a:t>Tableaux - profundidad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0" y="2423160"/>
            <a:ext cx="118872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0" y="242316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2.75 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0" y="2423160"/>
            <a:ext cx="9144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0" y="24231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100 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46320" y="2423160"/>
            <a:ext cx="128016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46320" y="242316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12.7 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2423160"/>
            <a:ext cx="13716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24231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1 min 12 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98080" y="2423160"/>
            <a:ext cx="22860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8080" y="242316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10 h 42 min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84080" y="2423160"/>
            <a:ext cx="14630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84080" y="242316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C55"/>
                </a:solidFill>
                <a:latin typeface="Calibri"/>
              </a:rPr>
              <a:t>Completado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2834640"/>
            <a:ext cx="237744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28346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E3F"/>
                </a:solidFill>
                <a:latin typeface="Calibri"/>
              </a:rPr>
              <a:t>Tableaux - backtracking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0" y="2834640"/>
            <a:ext cx="118872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0" y="283464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2.43 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31920" y="2834640"/>
            <a:ext cx="9144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31920" y="283464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35 ms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46320" y="2834640"/>
            <a:ext cx="128016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46320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3.3 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26480" y="2834640"/>
            <a:ext cx="13716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26480" y="28346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1 min 18 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80" y="2834640"/>
            <a:ext cx="22860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98080" y="28346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6 h 22 min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784080" y="2834640"/>
            <a:ext cx="146304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784080" y="283464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C55"/>
                </a:solidFill>
                <a:latin typeface="Calibri"/>
              </a:rPr>
              <a:t>Completado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3246120"/>
            <a:ext cx="23774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" y="32461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E3F"/>
                </a:solidFill>
                <a:latin typeface="Calibri"/>
              </a:rPr>
              <a:t>DPLL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0" y="3246120"/>
            <a:ext cx="118872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0" y="324612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2 min 08 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931920" y="3246120"/>
            <a:ext cx="9144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31920" y="32461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86 ms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46320" y="3246120"/>
            <a:ext cx="128016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846320" y="32461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2.51 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26480" y="3246120"/>
            <a:ext cx="13716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26480" y="32461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9.95 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98080" y="3246120"/>
            <a:ext cx="22860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498080" y="32461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4 min 58 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784080" y="3246120"/>
            <a:ext cx="14630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784080" y="324612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C55"/>
                </a:solidFill>
                <a:latin typeface="Calibri"/>
              </a:rPr>
              <a:t>Completado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3657600"/>
            <a:ext cx="237744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36576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E3F"/>
                </a:solidFill>
                <a:latin typeface="Calibri"/>
              </a:rPr>
              <a:t>WalkSAT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0" y="3657600"/>
            <a:ext cx="118872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743200" y="36576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931920" y="3657600"/>
            <a:ext cx="9144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931920" y="36576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0.84 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46320" y="3657600"/>
            <a:ext cx="128016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846320" y="36576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12 h 25 min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126480" y="3657600"/>
            <a:ext cx="13716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126480" y="3657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14 h 43 min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498080" y="3657600"/>
            <a:ext cx="228600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498080" y="36576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3657600"/>
            <a:ext cx="1463040" cy="41148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784080" y="365760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077A5"/>
                </a:solidFill>
                <a:latin typeface="Calibri"/>
              </a:rPr>
              <a:t>Parcial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069080"/>
            <a:ext cx="23774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65760" y="40690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E3F"/>
                </a:solidFill>
                <a:latin typeface="Calibri"/>
              </a:rPr>
              <a:t>MiniSAT22 (CDCL)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0" y="4069080"/>
            <a:ext cx="118872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743200" y="406908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19.1 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931920" y="4069080"/>
            <a:ext cx="9144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931920" y="406908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13 ms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846320" y="4069080"/>
            <a:ext cx="128016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846320" y="40690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413 ms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26480" y="4069080"/>
            <a:ext cx="13716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126480" y="40690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1.54 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98080" y="4069080"/>
            <a:ext cx="228600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498080" y="40690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F1E3F"/>
                </a:solidFill>
                <a:latin typeface="Calibri"/>
              </a:rPr>
              <a:t>33.1 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784080" y="4069080"/>
            <a:ext cx="1463040" cy="41148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84080" y="406908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2C55"/>
                </a:solidFill>
                <a:latin typeface="Calibri"/>
              </a:rPr>
              <a:t>Completado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Cuadro: Wall time real medido con %%time de Jupyter sobre cada celda.  '—' = no medido / no termino;  'timeout' = supero el limite de 24 h.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65760" y="5120640"/>
            <a:ext cx="1143000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30352" y="5120640"/>
            <a:ext cx="111008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Diferencia Critica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65760" y="5449824"/>
            <a:ext cx="11430000" cy="104241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30352" y="5522976"/>
            <a:ext cx="1110081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F1E3F"/>
                </a:solidFill>
                <a:latin typeface="Calibri"/>
              </a:rPr>
              <a:t>Hasta 3 ordenes de magnitud entre los metodos exitosos (DPLL: ~5 min; MiniSAT22: 33 s en la conjuncion) y los interrumpidos por timeout (SATtabla, WalkSAT, que corren horas sin terminar). Dato clave: la Regla 1 (suma=26) es el cuello de botella incluso para los solvers eficientes (DPLL 2 min, MiniSAT 19 s); el resto de reglas se resuelven en milisegundos.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Analisis de Convergencia Incremental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43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Umbrales de complejidad observados: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182880" cy="502920"/>
          </a:xfrm>
          <a:prstGeom prst="rect">
            <a:avLst/>
          </a:prstGeom>
          <a:solidFill>
            <a:srgbClr val="3D5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55448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SATtabla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554480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Resuelve R1/R2 en ms, pero R4 corre 11 h sin terminar; conjuncion en timeout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182880" cy="50292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19456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Tableaux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194560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Resuelve cada regla, pero la conjuncion total toma 6-10 h (backtracking / profundidad)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34640"/>
            <a:ext cx="182880" cy="50292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DPLL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834640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Exito en todas las reglas y en la conjuncion (~5 min); R1 es la mas costosa (2 min)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182880" cy="50292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747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WalkSAT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474720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Falla en R3 y R4 individuales: 12-15 h sin solucion (optimos locales)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182880" cy="50292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1480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MiniSAT22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114800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Exito en todo; conjuncion en 33 s, dominada por R1 (19 s); R2-R4 en 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20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02920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Conclusion Experimental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58384"/>
            <a:ext cx="11247120" cy="104241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431536"/>
            <a:ext cx="1091793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Solo los solucionadores SISTEMATICOS AVANZADOS (DPLL con Tseitin + UP, y MiniSAT22 con CDCL) resuelven el problema completo en hardware estandar dentro del limite de 24 horas. Los demas o se atascan en explosion combinatoria (tabla, tableaux) o en optimos locales (WalkSAT).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Determinacion de Satisfacibilidad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44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E3F"/>
                </a:solidFill>
                <a:latin typeface="Calibri"/>
              </a:rPr>
              <a:t>Clasificacion logica de la formula del hexagrama: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11247120" cy="548640"/>
          </a:xfrm>
          <a:prstGeom prst="roundRect">
            <a:avLst/>
          </a:prstGeom>
          <a:solidFill>
            <a:srgbClr val="E4EAF5"/>
          </a:solidFill>
          <a:ln w="1524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137160" cy="548640"/>
          </a:xfrm>
          <a:prstGeom prst="rect">
            <a:avLst/>
          </a:prstGeom>
          <a:solidFill>
            <a:srgbClr val="8EA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5544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E3F"/>
                </a:solidFill>
                <a:latin typeface="Calibri"/>
              </a:rPr>
              <a:t>Tautologia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55448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F1E3F"/>
                </a:solidFill>
                <a:latin typeface="Calibri"/>
              </a:rPr>
              <a:t>Verdadera en TODA interpretacion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40280"/>
            <a:ext cx="11247120" cy="548640"/>
          </a:xfrm>
          <a:prstGeom prst="roundRect">
            <a:avLst/>
          </a:prstGeom>
          <a:solidFill>
            <a:srgbClr val="E4EAF5"/>
          </a:solidFill>
          <a:ln w="15240">
            <a:solidFill>
              <a:srgbClr val="607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240280"/>
            <a:ext cx="137160" cy="54864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2402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E3F"/>
                </a:solidFill>
                <a:latin typeface="Calibri"/>
              </a:rPr>
              <a:t>Contradiccion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24028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F1E3F"/>
                </a:solidFill>
                <a:latin typeface="Calibri"/>
              </a:rPr>
              <a:t>Falsa en TODA interpretacion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26080"/>
            <a:ext cx="11247120" cy="548640"/>
          </a:xfrm>
          <a:prstGeom prst="roundRect">
            <a:avLst/>
          </a:prstGeom>
          <a:solidFill>
            <a:srgbClr val="E4EAF5"/>
          </a:solidFill>
          <a:ln w="15240">
            <a:solidFill>
              <a:srgbClr val="1A2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926080"/>
            <a:ext cx="137160" cy="54864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260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E3F"/>
                </a:solidFill>
                <a:latin typeface="Calibri"/>
              </a:rPr>
              <a:t>Contingente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92608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F1E3F"/>
                </a:solidFill>
                <a:latin typeface="Calibri"/>
              </a:rPr>
              <a:t>Verdadera en al menos UNA interpretacion (satisfacible)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Evidencia experimental: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DPLL y MiniSAT22 encontraron MODELOS validos (asignaciones concretas que satisfacen las 4 reglas).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Por lo tanto la formula NO es contradiccion.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Existen tambien interpretaciones que la falsifican (cualquier asignacion aleatoria casi seguro falla).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Por lo tanto la formula NO es tautologia.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8640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48640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Resultado Formal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815584"/>
            <a:ext cx="11247120" cy="67665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5888736"/>
            <a:ext cx="109179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La formula del hexagrama magico es SATISFACIBLE (contingente). Existen exactamente 80 configuraciones esencialmente distintas (modulo rotaciones y reflexiones).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8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Discusion y 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Que aprendimos modelando un puzzle de 12 casillas
y lanzandolo contra cinco solvers distintos.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45 / 53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Conclusiones Principales 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46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1. Formalizacion exitosa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240 variables proposicionales + 4 reglas formales capturan exhaustivamente el hexagrama.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Sin ambiguedades, sin configuraciones invalidas.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Un solo descriptor binario D_{n,c} es suficiente para representar todo el problema.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2. Implementacion computacional validada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Python con clases Formula, Letra, Negacion, Binario, Descriptor, Numero.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Metodologia incremental: regla por regla y luego la conjuncion total.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Visualizador grafico coherente con el diccionario booleano del solver.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3. Diferencias cualitativas entre paradigmas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Metodos exhaustivos (tabla, tableaux): impracticables (&gt;15h en la conjuncion total).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Metodos estocasticos (WalkSAT): incompletos, atrapados en optimos locales.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Metodos sistematicos avanzados (DPLL, MiniSAT22): unicos exitosos en el limite de tiempo.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Conclusiones Principales 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47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4. Evolucion algoritmica de SAT (1950 - 1990s)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554480"/>
            <a:ext cx="1828800" cy="502920"/>
          </a:xfrm>
          <a:prstGeom prst="rect">
            <a:avLst/>
          </a:prstGeom>
          <a:solidFill>
            <a:srgbClr val="1A2C55"/>
          </a:solidFill>
          <a:ln w="508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5544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Decada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554480"/>
            <a:ext cx="3657600" cy="502920"/>
          </a:xfrm>
          <a:prstGeom prst="rect">
            <a:avLst/>
          </a:prstGeom>
          <a:solidFill>
            <a:srgbClr val="1A2C55"/>
          </a:solidFill>
          <a:ln w="508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15544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Algoritmo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554480"/>
            <a:ext cx="4114800" cy="502920"/>
          </a:xfrm>
          <a:prstGeom prst="rect">
            <a:avLst/>
          </a:prstGeom>
          <a:solidFill>
            <a:srgbClr val="1A2C55"/>
          </a:solidFill>
          <a:ln w="5080">
            <a:solidFill>
              <a:srgbClr val="3D5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5544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Aporte clave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057400"/>
            <a:ext cx="18288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0574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1950s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057400"/>
            <a:ext cx="36576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20574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Tablas de Verdad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057400"/>
            <a:ext cx="41148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05740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Enumeracion exhaustiva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2560320"/>
            <a:ext cx="1828800" cy="50292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25603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1960s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560320"/>
            <a:ext cx="3657600" cy="50292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25603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Tableaux Semanticos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560320"/>
            <a:ext cx="4114800" cy="50292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5603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Descomposicion sistematica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063240"/>
            <a:ext cx="18288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30632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1962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063240"/>
            <a:ext cx="36576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30632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DPLL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3063240"/>
            <a:ext cx="41148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306324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Propagacion unitaria (breakthrough)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3566160"/>
            <a:ext cx="1828800" cy="50292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1990s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3566160"/>
            <a:ext cx="3657600" cy="50292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356616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WalkSAT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3566160"/>
            <a:ext cx="4114800" cy="502920"/>
          </a:xfrm>
          <a:prstGeom prst="rect">
            <a:avLst/>
          </a:prstGeom>
          <a:solidFill>
            <a:srgbClr val="F1F4FB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356616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Busqueda local estocastica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4069080"/>
            <a:ext cx="18288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40690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1990s+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4069080"/>
            <a:ext cx="36576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0" y="40690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E3F"/>
                </a:solidFill>
                <a:latin typeface="Calibri"/>
              </a:rPr>
              <a:t>CDCL / MiniSAT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4069080"/>
            <a:ext cx="4114800" cy="502920"/>
          </a:xfrm>
          <a:prstGeom prst="rect">
            <a:avLst/>
          </a:prstGeom>
          <a:solidFill>
            <a:srgbClr val="E4EAF5"/>
          </a:solidFill>
          <a:ln w="5080">
            <a:solidFill>
              <a:srgbClr val="B7C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40690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Aprendizaje de clausulas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Transformacion: intratable → tratable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Propagacion unitaria (DPLL): reduccion exponencial del espacio de busqueda.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Aprendizaje de conflictos (CDCL): "memoria" adaptativa que no repite errores.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200" b="0" i="0">
                <a:solidFill>
                  <a:srgbClr val="0F1E3F"/>
                </a:solidFill>
                <a:latin typeface="Calibri"/>
              </a:rPr>
              <a:t>Mas de 40 anos de innovacion algoritmica entre el papel y MiniSAT22.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Conclusiones Principales 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48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E3F"/>
                </a:solidFill>
                <a:latin typeface="Calibri"/>
              </a:rPr>
              <a:t>5. Principios fundamentales ilustrados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417320"/>
            <a:ext cx="11247120" cy="91440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C55"/>
                </a:solidFill>
                <a:latin typeface="Calibri"/>
              </a:rPr>
              <a:t>Formalizacion = fundamento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F1E3F"/>
                </a:solidFill>
                <a:latin typeface="Calibri"/>
              </a:rPr>
              <a:t>Una traduccion precisa de la descripcion informal a logica proposicional es la base de todo lo que sigue.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23160"/>
            <a:ext cx="11247120" cy="91440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14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C55"/>
                </a:solidFill>
                <a:latin typeface="Calibri"/>
              </a:rPr>
              <a:t>Complejidad inherente ≠ complejidad algoritmica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346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F1E3F"/>
                </a:solidFill>
                <a:latin typeface="Calibri"/>
              </a:rPr>
              <a:t>12! = 479,001,600 permutaciones; las heuristicas inteligentes encuentran la solucion sin enumerar.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47120" cy="91440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C55"/>
                </a:solidFill>
                <a:latin typeface="Calibri"/>
              </a:rPr>
              <a:t>Trade-offs: completitud vs eficiencia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F1E3F"/>
                </a:solidFill>
                <a:latin typeface="Calibri"/>
              </a:rPr>
              <a:t>WalkSAT renuncia a completitud por velocidad; MiniSAT22 logra ambas con aprendizaje de conflictos.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11247120" cy="914400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26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2C55"/>
                </a:solidFill>
                <a:latin typeface="Calibri"/>
              </a:rPr>
              <a:t>Eleccion critica: el algoritmo determina la tractabilidad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F1E3F"/>
                </a:solidFill>
                <a:latin typeface="Calibri"/>
              </a:rPr>
              <a:t>El mismo problema es trivial (ms) o impracticable (&gt;24h) segun el solver elegido.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3212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553212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Implicacion Practica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861304"/>
            <a:ext cx="11247120" cy="63093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934456"/>
            <a:ext cx="10917936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Problemas de planificacion, verificacion de hardware, configuracion de redes y diseno asistido por computador frecuentemente se reducen a SAT. La eleccion del solver determina si son resolubles en segundos o intratables.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Trabajos Futuros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49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E3F"/>
                </a:solidFill>
                <a:latin typeface="Calibri"/>
              </a:rPr>
              <a:t>Direcciones prometedoras a partir de este trabajo: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67335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Generalizacion a estrellas mas grandes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4767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Estrella magica con m &gt; 6. Las variables crecen como m * (numero de casillas), y el numero de lineas tambien.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45059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Optimizacion de codificaciones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72491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Variables auxiliares para sumas (codificaciones cardinales eficientes). Comparar order encoding vs direct encoding.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2278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Analisis de complejidad formal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50215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Estudiar si el problema generalizado es NP-completo o pertenece a clases mas refinadas (P #SAT).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00507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Paralelizacion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27939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Distribuir el espacio de busqueda entre multiples nucleos / maquinas. SAT paralelo (Plingeling, etc.).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480060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78231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Variantes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5663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Semi-magicos, diabolicos, pandiagonales. Hexagramas con sumas adicionales en diametros.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5577840"/>
            <a:ext cx="457200" cy="457200"/>
          </a:xfrm>
          <a:prstGeom prst="ellipse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577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55955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E3F"/>
                </a:solidFill>
                <a:latin typeface="Calibri"/>
              </a:rPr>
              <a:t>Integracion con 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83387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E3F"/>
                </a:solidFill>
                <a:latin typeface="Calibri"/>
              </a:rPr>
              <a:t>Machine learning para predecir buenas heuristicas de seleccion variable (aprender VSIDS).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Sintesis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50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0584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00584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Demostracion Central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35024"/>
            <a:ext cx="11247120" cy="950976"/>
          </a:xfrm>
          <a:prstGeom prst="roundRect">
            <a:avLst/>
          </a:prstGeom>
          <a:solidFill>
            <a:srgbClr val="E4EAF5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408176"/>
            <a:ext cx="1091793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E3F"/>
                </a:solidFill>
                <a:latin typeface="Calibri"/>
              </a:rPr>
              <a:t>La logica proposicional, pese a su aparente simplicidad sintactica, posee EXPRESIVIDAD SUFICIENTE para codificar problemas combinatorios complejos como el hexagrama magico, y los SAT-solvers modernos los resuelven eficazmente.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E3F"/>
                </a:solidFill>
                <a:latin typeface="Calibri"/>
              </a:rPr>
              <a:t>Validacion exitosa: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112471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Formalizacion matematica rigurosa (240 atomos + 4 reglas).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Implementacion computacional correcta en Python (clases reutilizables).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Evaluacion experimental exhaustiva (5 solvers, regla por regla y conjuncion total).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Formula SATISFACIBLE (80 configuraciones fundamentales).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D5586"/>
                </a:solidFill>
                <a:latin typeface="Calibri"/>
              </a:rPr>
              <a:t>● </a:t>
            </a:r>
            <a:r>
              <a:rPr sz="1300" b="0" i="0">
                <a:solidFill>
                  <a:srgbClr val="0F1E3F"/>
                </a:solidFill>
                <a:latin typeface="Calibri"/>
              </a:rPr>
              <a:t>Solo DPLL y MiniSAT22 resuelven el problema completo en hardware estandar dentro de 24h.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86400"/>
            <a:ext cx="11247120" cy="329184"/>
          </a:xfrm>
          <a:prstGeom prst="round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486400"/>
            <a:ext cx="10917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Contribucion del Proyecto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15584"/>
            <a:ext cx="11247120" cy="676656"/>
          </a:xfrm>
          <a:prstGeom prst="roundRect">
            <a:avLst/>
          </a:prstGeom>
          <a:solidFill>
            <a:srgbClr val="D2DCEE"/>
          </a:solidFill>
          <a:ln w="6350">
            <a:solidFill>
              <a:srgbClr val="8EA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888736"/>
            <a:ext cx="109179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E3F"/>
                </a:solidFill>
                <a:latin typeface="Calibri"/>
              </a:rPr>
              <a:t>Combinar comprension teorica (logica + computacion + complejidad) con practica ingenieril (modelado, codificacion eficiente, comparacion experimental rigurosa).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7C4E0"/>
                </a:solidFill>
                <a:latin typeface="Calibri"/>
              </a:rPr>
              <a:t>SECCION  9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Agradecimientos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71323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93F6C"/>
                </a:solidFill>
                <a:latin typeface="Calibri"/>
              </a:rPr>
              <a:t>Las personas e instituciones sin las cuales
este trabajo no habria sido posible.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3D5586"/>
                </a:solidFill>
                <a:latin typeface="Calibri"/>
              </a:rPr>
              <a:t>51 / 53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29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E3F"/>
                </a:solidFill>
                <a:latin typeface="Calibri"/>
              </a:rPr>
              <a:t>Agradecimientos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46304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293F6C"/>
                </a:solidFill>
                <a:latin typeface="Calibri"/>
              </a:rPr>
              <a:t>52 / 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4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Samuel A. Galindo  ·  John S. Valbuena  ·  Alejandro Jimenez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5653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Hexagrama Magico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1">
                <a:solidFill>
                  <a:srgbClr val="3D5586"/>
                </a:solidFill>
                <a:latin typeface="Calibri"/>
              </a:rPr>
              <a:t>Bogota, Colombia  ·  Mayo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1A2C55"/>
                </a:solidFill>
                <a:latin typeface="Calibri"/>
              </a:rPr>
              <a:t>Agradecemos especialmente al profesor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0F1E3F"/>
                </a:solidFill>
                <a:latin typeface="Calibri"/>
              </a:rPr>
              <a:t>Daniel Alfonso Bojaca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293F6C"/>
                </a:solidFill>
                <a:latin typeface="Calibri"/>
              </a:rPr>
              <a:t>por su invaluable orientacion durante el desarrollo de este proyecto</a:t>
            </a:r>
          </a:p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293F6C"/>
                </a:solidFill>
                <a:latin typeface="Calibri"/>
              </a:rPr>
              <a:t>en el curso de Logica para Ciencias de la Computacion.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1E3F"/>
                </a:solidFill>
                <a:latin typeface="Calibri"/>
              </a:rPr>
              <a:t>Tambien agradecemos: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·  A la comunidad de Matematicas Aplicadas y Ciencias de la Computacion (MACC).</a:t>
            </a:r>
          </a:p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·  A los autores de PySAT y MiniSAT22 por proveer un solver de estado del arte accesible.</a:t>
            </a:r>
          </a:p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0F1E3F"/>
                </a:solidFill>
                <a:latin typeface="Calibri"/>
              </a:rPr>
              <a:t>·  A los companeros del curso con quienes discutimos estrategias y representaciones.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07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FFFF"/>
                </a:solidFill>
                <a:latin typeface="Calibri"/>
              </a:rPr>
              <a:t>Gracias por su atencion!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1">
                <a:solidFill>
                  <a:srgbClr val="B7C4E0"/>
                </a:solidFill>
                <a:latin typeface="Calibri"/>
              </a:rPr>
              <a:t>Preguntas?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B7C4E0"/>
                </a:solidFill>
                <a:latin typeface="Calibri"/>
              </a:rPr>
              <a:t>Contacto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samuel.galindo@urosario.edu.co</a:t>
            </a:r>
          </a:p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john.valbuena@urosario.edu.co</a:t>
            </a:r>
          </a:p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alejandro.jimenez@urosario.edu.co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7C4E0"/>
                </a:solidFill>
                <a:latin typeface="Calibri"/>
              </a:rPr>
              <a:t>Logica para Ciencias de la Computacion  ·  MACC  ·  2026-01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